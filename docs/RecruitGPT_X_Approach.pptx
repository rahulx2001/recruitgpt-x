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60520"/>
            <a:ext cx="9144000" cy="98298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822960"/>
            <a:ext cx="7863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02C39A"/>
                </a:solidFill>
              </a:defRPr>
            </a:pPr>
            <a:r>
              <a:t>INDIA RUNS · DATA &amp; AI CHALLENGE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325880"/>
            <a:ext cx="78638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Intelligent Candidate Discovery</a:t>
            </a:r>
            <a:br/>
            <a:r>
              <a:t>&amp; Ranking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423160"/>
            <a:ext cx="7863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0">
                <a:solidFill>
                  <a:srgbClr val="CADCFC"/>
                </a:solidFill>
              </a:defRPr>
            </a:pPr>
            <a:r>
              <a:t>Hybrid offline ranker — semantic fit, trap-aware, production-scale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3063240"/>
            <a:ext cx="7863840" cy="868680"/>
          </a:xfrm>
          <a:prstGeom prst="rect">
            <a:avLst/>
          </a:prstGeom>
          <a:solidFill>
            <a:srgbClr val="04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3200400"/>
            <a:ext cx="34747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</a:defRPr>
            </a:pPr>
            <a:r>
              <a:t>Team Name</a:t>
            </a:r>
            <a:br/>
            <a:r>
              <a:t>Schadn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3200400"/>
            <a:ext cx="43891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</a:defRPr>
            </a:pPr>
            <a:r>
              <a:t>Team Leader</a:t>
            </a:r>
            <a:br/>
            <a:r>
              <a:t>Rahul Kumar Singh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315968"/>
            <a:ext cx="78638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</a:defRPr>
            </a:pPr>
            <a:r>
              <a:t>Official bundle: candidates.jsonl (100K) · job_description.docx · redrob_signals_doc.docx · submission_spec v4</a:t>
            </a:r>
            <a:br/>
            <a:r>
              <a:t>Problem: Intelligent Candidate Discovery &amp; Ranking — top-100 shortlist for Senior AI Engineer @ Redrob AI.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80467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</a:defRPr>
            </a:pPr>
            <a:r>
              <a:t>Solution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30352"/>
            <a:ext cx="8046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CADCFC"/>
                </a:solidFill>
              </a:defRPr>
            </a:pPr>
            <a:r>
              <a:t>What we built and why it beats keyword ATS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051560"/>
            <a:ext cx="3977639" cy="3749039"/>
          </a:xfrm>
          <a:prstGeom prst="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188720"/>
            <a:ext cx="36576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 b="1">
                <a:solidFill>
                  <a:srgbClr val="065A82"/>
                </a:solidFill>
              </a:defRPr>
            </a:pPr>
            <a:r>
              <a:t>Proposed Solution</a:t>
            </a:r>
          </a:p>
          <a:p>
            <a:pPr>
              <a:spcAft>
                <a:spcPts val="600"/>
              </a:spcAft>
              <a:defRPr sz="1200">
                <a:solidFill>
                  <a:srgbClr val="212121"/>
                </a:solidFill>
              </a:defRPr>
            </a:pPr>
            <a:r>
              <a:t>Rank top 100 from official candidates.jsonl per submission_spec v4 (CSV: candidate_id,rank,score,reasoning).</a:t>
            </a:r>
          </a:p>
          <a:p>
            <a:pPr>
              <a:spcAft>
                <a:spcPts val="600"/>
              </a:spcAft>
              <a:defRPr sz="1200">
                <a:solidFill>
                  <a:srgbClr val="212121"/>
                </a:solidFill>
              </a:defRPr>
            </a:pPr>
            <a:r>
              <a:t>Reads full candidate_schema: profile, career_history, skills, redrob_signals (23 fields).</a:t>
            </a:r>
          </a:p>
          <a:p>
            <a:pPr>
              <a:spcAft>
                <a:spcPts val="600"/>
              </a:spcAft>
              <a:defRPr sz="1200">
                <a:solidFill>
                  <a:srgbClr val="212121"/>
                </a:solidFill>
              </a:defRPr>
            </a:pPr>
            <a:r>
              <a:t>Hybrid offline ranker on CPU in ~49–60s — meets 5 min / 16GB / no-network constraints.</a:t>
            </a:r>
          </a:p>
          <a:p>
            <a:pPr>
              <a:spcAft>
                <a:spcPts val="600"/>
              </a:spcAft>
              <a:defRPr sz="1200">
                <a:solidFill>
                  <a:srgbClr val="212121"/>
                </a:solidFill>
              </a:defRPr>
            </a:pPr>
            <a:r>
              <a:t>Grounded 2-sentence reasoning per row — matches Stage 4 review criteria in submission_spec.</a:t>
            </a:r>
          </a:p>
        </p:txBody>
      </p:sp>
      <p:sp>
        <p:nvSpPr>
          <p:cNvPr id="7" name="Rectangle 6"/>
          <p:cNvSpPr/>
          <p:nvPr/>
        </p:nvSpPr>
        <p:spPr>
          <a:xfrm>
            <a:off x="4663440" y="1051560"/>
            <a:ext cx="3977639" cy="3749039"/>
          </a:xfrm>
          <a:prstGeom prst="rect">
            <a:avLst/>
          </a:prstGeom>
          <a:solidFill>
            <a:srgbClr val="E8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846320" y="1188720"/>
            <a:ext cx="36576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 b="1">
                <a:solidFill>
                  <a:srgbClr val="065A82"/>
                </a:solidFill>
              </a:defRPr>
            </a:pPr>
            <a:r>
              <a:t>Differentiation vs Keyword Matching</a:t>
            </a:r>
          </a:p>
          <a:p>
            <a:pPr>
              <a:spcAft>
                <a:spcPts val="600"/>
              </a:spcAft>
              <a:defRPr sz="1200">
                <a:solidFill>
                  <a:srgbClr val="212121"/>
                </a:solidFill>
              </a:defRPr>
            </a:pPr>
            <a:r>
              <a:t>Bundle README warns: keyword stuffers, behavioral twins, ~80 honeypots — we defend all three.</a:t>
            </a:r>
          </a:p>
          <a:p>
            <a:pPr>
              <a:spcAft>
                <a:spcPts val="600"/>
              </a:spcAft>
              <a:defRPr sz="1200">
                <a:solidFill>
                  <a:srgbClr val="212121"/>
                </a:solidFill>
              </a:defRPr>
            </a:pPr>
            <a:r>
              <a:t>Beyond keywords: career semantics + IR skill trust + Redrob behavioral modifier.</a:t>
            </a:r>
          </a:p>
          <a:p>
            <a:pPr>
              <a:spcAft>
                <a:spcPts val="600"/>
              </a:spcAft>
              <a:defRPr sz="1200">
                <a:solidFill>
                  <a:srgbClr val="212121"/>
                </a:solidFill>
              </a:defRPr>
            </a:pPr>
            <a:r>
              <a:t>Mirrors JD disqualifiers: research-only, consulting-only, CV/speech-only, framework-noise profiles.</a:t>
            </a:r>
          </a:p>
          <a:p>
            <a:pPr>
              <a:spcAft>
                <a:spcPts val="600"/>
              </a:spcAft>
              <a:defRPr sz="1200">
                <a:solidFill>
                  <a:srgbClr val="212121"/>
                </a:solidFill>
              </a:defRPr>
            </a:pPr>
            <a:r>
              <a:t>open_to_work_flag=false cannot reach top-10 (per redrob_signals_doc availability logic).</a:t>
            </a:r>
          </a:p>
          <a:p>
            <a:pPr>
              <a:spcAft>
                <a:spcPts val="600"/>
              </a:spcAft>
              <a:defRPr sz="1200">
                <a:solidFill>
                  <a:srgbClr val="212121"/>
                </a:solidFill>
              </a:defRPr>
            </a:pPr>
            <a:r>
              <a:t>Shipper-first: production-scale CPU ranker, not per-candidate LLM API calls.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80467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</a:defRPr>
            </a:pPr>
            <a:r>
              <a:t>JD Understanding &amp; Candidate Signals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30352"/>
            <a:ext cx="8046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CADCFC"/>
                </a:solidFill>
              </a:defRPr>
            </a:pPr>
            <a:r>
              <a:t>Official: job_description.docx + candidate_schema.json + redrob_signals_doc.docx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024128"/>
            <a:ext cx="4114800" cy="1874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 b="1">
                <a:solidFill>
                  <a:srgbClr val="065A82"/>
                </a:solidFill>
              </a:defRPr>
            </a:pPr>
            <a:r>
              <a:t>From job_description.docx</a:t>
            </a:r>
          </a:p>
          <a:p>
            <a:pPr>
              <a:spcAft>
                <a:spcPts val="600"/>
              </a:spcAft>
              <a:defRPr sz="1000">
                <a:solidFill>
                  <a:srgbClr val="212121"/>
                </a:solidFill>
              </a:defRPr>
            </a:pPr>
            <a:r>
              <a:t>Role: Senior AI Engineer — Founding Team @ Redrob AI (Series A talent intelligence).</a:t>
            </a:r>
          </a:p>
          <a:p>
            <a:pPr>
              <a:spcAft>
                <a:spcPts val="600"/>
              </a:spcAft>
              <a:defRPr sz="1000">
                <a:solidFill>
                  <a:srgbClr val="212121"/>
                </a:solidFill>
              </a:defRPr>
            </a:pPr>
            <a:r>
              <a:t>Location: Pune/Noida preferred; India Tier-1 cities; hybrid work mode.</a:t>
            </a:r>
          </a:p>
          <a:p>
            <a:pPr>
              <a:spcAft>
                <a:spcPts val="600"/>
              </a:spcAft>
              <a:defRPr sz="1000">
                <a:solidFill>
                  <a:srgbClr val="212121"/>
                </a:solidFill>
              </a:defRPr>
            </a:pPr>
            <a:r>
              <a:t>Experience: 5–9 years band (flexible if other signals strong).</a:t>
            </a:r>
          </a:p>
          <a:p>
            <a:pPr>
              <a:spcAft>
                <a:spcPts val="600"/>
              </a:spcAft>
              <a:defRPr sz="1000">
                <a:solidFill>
                  <a:srgbClr val="212121"/>
                </a:solidFill>
              </a:defRPr>
            </a:pPr>
            <a:r>
              <a:t>Must-have: production embeddings retrieval, vector DB/hybrid search, Python, ranking eval (NDCG/MRR/MAP).</a:t>
            </a:r>
          </a:p>
          <a:p>
            <a:pPr>
              <a:spcAft>
                <a:spcPts val="600"/>
              </a:spcAft>
              <a:defRPr sz="1000">
                <a:solidFill>
                  <a:srgbClr val="212121"/>
                </a:solidFill>
              </a:defRPr>
            </a:pPr>
            <a:r>
              <a:t>JD rejects: pure research-only, LangChain-only AI, consulting-only careers, CV/speech/robotics without IR.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2971800"/>
            <a:ext cx="4114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 b="1">
                <a:solidFill>
                  <a:srgbClr val="065A82"/>
                </a:solidFill>
              </a:defRPr>
            </a:pPr>
            <a:r>
              <a:t>candidate_schema.json fields</a:t>
            </a:r>
          </a:p>
          <a:p>
            <a:pPr>
              <a:spcAft>
                <a:spcPts val="600"/>
              </a:spcAft>
              <a:defRPr sz="1000">
                <a:solidFill>
                  <a:srgbClr val="212121"/>
                </a:solidFill>
              </a:defRPr>
            </a:pPr>
            <a:r>
              <a:t>profile: title, headline, summary, location, years_of_experience, company.</a:t>
            </a:r>
          </a:p>
          <a:p>
            <a:pPr>
              <a:spcAft>
                <a:spcPts val="600"/>
              </a:spcAft>
              <a:defRPr sz="1000">
                <a:solidFill>
                  <a:srgbClr val="212121"/>
                </a:solidFill>
              </a:defRPr>
            </a:pPr>
            <a:r>
              <a:t>career_history: role descriptions with production IR evidence.</a:t>
            </a:r>
          </a:p>
          <a:p>
            <a:pPr>
              <a:spcAft>
                <a:spcPts val="600"/>
              </a:spcAft>
              <a:defRPr sz="1000">
                <a:solidFill>
                  <a:srgbClr val="212121"/>
                </a:solidFill>
              </a:defRPr>
            </a:pPr>
            <a:r>
              <a:t>skills: proficiency, endorsements, duration_months (trust signal).</a:t>
            </a:r>
          </a:p>
          <a:p>
            <a:pPr>
              <a:spcAft>
                <a:spcPts val="600"/>
              </a:spcAft>
              <a:defRPr sz="1000">
                <a:solidFill>
                  <a:srgbClr val="212121"/>
                </a:solidFill>
              </a:defRPr>
            </a:pPr>
            <a:r>
              <a:t>redrob_signals: 23 behavioral fields — modifier on top of skill-match score.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09160" y="1024128"/>
            <a:ext cx="3977639" cy="3794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 b="1">
                <a:solidFill>
                  <a:srgbClr val="065A82"/>
                </a:solidFill>
              </a:defRPr>
            </a:pPr>
            <a:r>
              <a:t>23 Redrob signals we weight (redrob_signals_doc.docx)</a:t>
            </a:r>
          </a:p>
          <a:p>
            <a:pPr>
              <a:spcAft>
                <a:spcPts val="600"/>
              </a:spcAft>
              <a:defRPr sz="950">
                <a:solidFill>
                  <a:srgbClr val="212121"/>
                </a:solidFill>
              </a:defRPr>
            </a:pPr>
            <a:r>
              <a:t>Availability: open_to_work_flag, last_active_date, notice_period_days.</a:t>
            </a:r>
          </a:p>
          <a:p>
            <a:pPr>
              <a:spcAft>
                <a:spcPts val="600"/>
              </a:spcAft>
              <a:defRPr sz="950">
                <a:solidFill>
                  <a:srgbClr val="212121"/>
                </a:solidFill>
              </a:defRPr>
            </a:pPr>
            <a:r>
              <a:t>Responsiveness: recruiter_response_rate, avg_response_time_hours.</a:t>
            </a:r>
          </a:p>
          <a:p>
            <a:pPr>
              <a:spcAft>
                <a:spcPts val="600"/>
              </a:spcAft>
              <a:defRPr sz="950">
                <a:solidFill>
                  <a:srgbClr val="212121"/>
                </a:solidFill>
              </a:defRPr>
            </a:pPr>
            <a:r>
              <a:t>Engagement: profile_views_received_30d, saved_by_recruiters_30d, search_appearance_30d.</a:t>
            </a:r>
          </a:p>
          <a:p>
            <a:pPr>
              <a:spcAft>
                <a:spcPts val="600"/>
              </a:spcAft>
              <a:defRPr sz="950">
                <a:solidFill>
                  <a:srgbClr val="212121"/>
                </a:solidFill>
              </a:defRPr>
            </a:pPr>
            <a:r>
              <a:t>Assessments: skill_assessment_scores (platform IR tests).</a:t>
            </a:r>
          </a:p>
          <a:p>
            <a:pPr>
              <a:spcAft>
                <a:spcPts val="600"/>
              </a:spcAft>
              <a:defRPr sz="950">
                <a:solidFill>
                  <a:srgbClr val="212121"/>
                </a:solidFill>
              </a:defRPr>
            </a:pPr>
            <a:r>
              <a:t>Activity: github_activity_score, interview_completion_rate, applications_submitted_30d.</a:t>
            </a:r>
          </a:p>
          <a:p>
            <a:pPr>
              <a:spcAft>
                <a:spcPts val="600"/>
              </a:spcAft>
              <a:defRPr sz="950">
                <a:solidFill>
                  <a:srgbClr val="212121"/>
                </a:solidFill>
              </a:defRPr>
            </a:pPr>
            <a:r>
              <a:t>Trust: verified_email, verified_phone, linkedin_connected, profile_completeness_score.</a:t>
            </a:r>
          </a:p>
          <a:p>
            <a:pPr>
              <a:spcAft>
                <a:spcPts val="600"/>
              </a:spcAft>
              <a:defRPr sz="950">
                <a:solidFill>
                  <a:srgbClr val="212121"/>
                </a:solidFill>
              </a:defRPr>
            </a:pPr>
            <a:r>
              <a:t>Plus: willing_to_relocate, preferred_work_mode, expected_salary_range_inr_lpa.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80467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</a:defRPr>
            </a:pPr>
            <a:r>
              <a:t>Ranking Methodology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30352"/>
            <a:ext cx="8046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CADCFC"/>
                </a:solidFill>
              </a:defRPr>
            </a:pPr>
            <a:r>
              <a:t>Hybrid v6 scorer — retrieve, score, rank, explain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005840"/>
            <a:ext cx="40233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 b="1">
                <a:solidFill>
                  <a:srgbClr val="065A82"/>
                </a:solidFill>
              </a:defRPr>
            </a:pPr>
            <a:r>
              <a:t>Pipeline Steps</a:t>
            </a:r>
          </a:p>
          <a:p>
            <a:pPr>
              <a:spcAft>
                <a:spcPts val="600"/>
              </a:spcAft>
              <a:defRPr sz="1100">
                <a:solidFill>
                  <a:srgbClr val="212121"/>
                </a:solidFill>
              </a:defRPr>
            </a:pPr>
            <a:r>
              <a:t>1. Parse official job_description.docx → jd_config.py + JD embedding.</a:t>
            </a:r>
          </a:p>
          <a:p>
            <a:pPr>
              <a:spcAft>
                <a:spcPts val="600"/>
              </a:spcAft>
              <a:defRPr sz="1100">
                <a:solidFill>
                  <a:srgbClr val="212121"/>
                </a:solidFill>
              </a:defRPr>
            </a:pPr>
            <a:r>
              <a:t>2. Load candidates.jsonl (100K) per bundle README → CandidateIndex.</a:t>
            </a:r>
          </a:p>
          <a:p>
            <a:pPr>
              <a:spcAft>
                <a:spcPts val="600"/>
              </a:spcAft>
              <a:defRPr sz="1100">
                <a:solidFill>
                  <a:srgbClr val="212121"/>
                </a:solidFill>
              </a:defRPr>
            </a:pPr>
            <a:r>
              <a:t>3. Score with hybrid v6 + redrob_signals modifier + honeypot traps.</a:t>
            </a:r>
          </a:p>
          <a:p>
            <a:pPr>
              <a:spcAft>
                <a:spcPts val="600"/>
              </a:spcAft>
              <a:defRPr sz="1100">
                <a:solidFill>
                  <a:srgbClr val="212121"/>
                </a:solidFill>
              </a:defRPr>
            </a:pPr>
            <a:r>
              <a:t>4. Calibrate → sort → ranks 1–100; tie-break candidate_id ascending (spec §3).</a:t>
            </a:r>
          </a:p>
          <a:p>
            <a:pPr>
              <a:spcAft>
                <a:spcPts val="600"/>
              </a:spcAft>
              <a:defRPr sz="1100">
                <a:solidFill>
                  <a:srgbClr val="212121"/>
                </a:solidFill>
              </a:defRPr>
            </a:pPr>
            <a:r>
              <a:t>5. Write submission.csv per submission_spec v4 — UTF-8, monotonic scores.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2926080"/>
            <a:ext cx="4023360" cy="1828800"/>
          </a:xfrm>
          <a:prstGeom prst="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3063240"/>
            <a:ext cx="3749039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065A82"/>
                </a:solidFill>
              </a:defRPr>
            </a:pPr>
            <a:r>
              <a:t>Models &amp; Algorithms</a:t>
            </a:r>
          </a:p>
          <a:p>
            <a:pPr>
              <a:spcAft>
                <a:spcPts val="600"/>
              </a:spcAft>
              <a:defRPr sz="1100">
                <a:solidFill>
                  <a:srgbClr val="212121"/>
                </a:solidFill>
              </a:defRPr>
            </a:pPr>
            <a:r>
              <a:t>Bi-encoder: all-MiniLM-L6-v2 (committed embeddings.fp16.npz, 100K vectors).</a:t>
            </a:r>
          </a:p>
          <a:p>
            <a:pPr>
              <a:spcAft>
                <a:spcPts val="600"/>
              </a:spcAft>
              <a:defRPr sz="1100">
                <a:solidFill>
                  <a:srgbClr val="212121"/>
                </a:solidFill>
              </a:defRPr>
            </a:pPr>
            <a:r>
              <a:t>TF-IDF JD overlap for lexical alignment with parsed JD.</a:t>
            </a:r>
          </a:p>
          <a:p>
            <a:pPr>
              <a:spcAft>
                <a:spcPts val="600"/>
              </a:spcAft>
              <a:defRPr sz="1100">
                <a:solidFill>
                  <a:srgbClr val="212121"/>
                </a:solidFill>
              </a:defRPr>
            </a:pPr>
            <a:r>
              <a:t>Heuristic modifiers: consulting penalty, research-only cap, FAANG-current note.</a:t>
            </a:r>
          </a:p>
          <a:p>
            <a:pPr>
              <a:spcAft>
                <a:spcPts val="600"/>
              </a:spcAft>
              <a:defRPr sz="1100">
                <a:solidFill>
                  <a:srgbClr val="212121"/>
                </a:solidFill>
              </a:defRPr>
            </a:pPr>
            <a:r>
              <a:t>Cross-encoder: OFF (RANKER_USE_CROSS_ENCODER=0) for reproducibility.</a:t>
            </a:r>
          </a:p>
        </p:txBody>
      </p:sp>
      <p:sp>
        <p:nvSpPr>
          <p:cNvPr id="8" name="Rectangle 7"/>
          <p:cNvSpPr/>
          <p:nvPr/>
        </p:nvSpPr>
        <p:spPr>
          <a:xfrm>
            <a:off x="4663440" y="1005840"/>
            <a:ext cx="3977639" cy="3749039"/>
          </a:xfrm>
          <a:prstGeom prst="rect">
            <a:avLst/>
          </a:prstGeom>
          <a:solidFill>
            <a:srgbClr val="E8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846320" y="1143000"/>
            <a:ext cx="3657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>
                <a:solidFill>
                  <a:srgbClr val="065A82"/>
                </a:solidFill>
              </a:defRPr>
            </a:pPr>
            <a:r>
              <a:t>v6 Signal Weights (DEFAULT_WEIGHTS)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92040" y="1508760"/>
            <a:ext cx="25603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212121"/>
                </a:solidFill>
              </a:defRPr>
            </a:pPr>
            <a:r>
              <a:t>Title alignment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79" y="1508760"/>
            <a:ext cx="8229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100" b="1">
                <a:solidFill>
                  <a:srgbClr val="028090"/>
                </a:solidFill>
              </a:defRPr>
            </a:pPr>
            <a:r>
              <a:t>20%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892040" y="1691639"/>
            <a:ext cx="3429000" cy="54864"/>
          </a:xfrm>
          <a:prstGeom prst="rect">
            <a:avLst/>
          </a:prstGeom>
          <a:solidFill>
            <a:srgbClr val="D0E8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892040" y="1691639"/>
            <a:ext cx="3429000" cy="54864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892040" y="1837943"/>
            <a:ext cx="25603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212121"/>
                </a:solidFill>
              </a:defRPr>
            </a:pPr>
            <a:r>
              <a:t>Core IR skills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98079" y="1837943"/>
            <a:ext cx="8229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100" b="1">
                <a:solidFill>
                  <a:srgbClr val="028090"/>
                </a:solidFill>
              </a:defRPr>
            </a:pPr>
            <a:r>
              <a:t>18%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892040" y="2020824"/>
            <a:ext cx="3429000" cy="54864"/>
          </a:xfrm>
          <a:prstGeom prst="rect">
            <a:avLst/>
          </a:prstGeom>
          <a:solidFill>
            <a:srgbClr val="D0E8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892040" y="2020824"/>
            <a:ext cx="3086100" cy="54864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892040" y="2167127"/>
            <a:ext cx="25603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212121"/>
                </a:solidFill>
              </a:defRPr>
            </a:pPr>
            <a:r>
              <a:t>Career semantic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98079" y="2167127"/>
            <a:ext cx="8229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100" b="1">
                <a:solidFill>
                  <a:srgbClr val="028090"/>
                </a:solidFill>
              </a:defRPr>
            </a:pPr>
            <a:r>
              <a:t>14%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892040" y="2350008"/>
            <a:ext cx="3429000" cy="54864"/>
          </a:xfrm>
          <a:prstGeom prst="rect">
            <a:avLst/>
          </a:prstGeom>
          <a:solidFill>
            <a:srgbClr val="D0E8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892040" y="2350008"/>
            <a:ext cx="2400300" cy="54864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892040" y="2496311"/>
            <a:ext cx="25603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212121"/>
                </a:solidFill>
              </a:defRPr>
            </a:pPr>
            <a:r>
              <a:t>Production pedigree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98079" y="2496311"/>
            <a:ext cx="8229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100" b="1">
                <a:solidFill>
                  <a:srgbClr val="028090"/>
                </a:solidFill>
              </a:defRPr>
            </a:pPr>
            <a:r>
              <a:t>12%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892040" y="2679191"/>
            <a:ext cx="3429000" cy="54864"/>
          </a:xfrm>
          <a:prstGeom prst="rect">
            <a:avLst/>
          </a:prstGeom>
          <a:solidFill>
            <a:srgbClr val="D0E8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892040" y="2679191"/>
            <a:ext cx="2057400" cy="54864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892040" y="2825495"/>
            <a:ext cx="25603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212121"/>
                </a:solidFill>
              </a:defRPr>
            </a:pPr>
            <a:r>
              <a:t>Availability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98079" y="2825495"/>
            <a:ext cx="8229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100" b="1">
                <a:solidFill>
                  <a:srgbClr val="028090"/>
                </a:solidFill>
              </a:defRPr>
            </a:pPr>
            <a:r>
              <a:t>12%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892040" y="3008375"/>
            <a:ext cx="3429000" cy="54864"/>
          </a:xfrm>
          <a:prstGeom prst="rect">
            <a:avLst/>
          </a:prstGeom>
          <a:solidFill>
            <a:srgbClr val="D0E8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892040" y="3008375"/>
            <a:ext cx="2057400" cy="54864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892040" y="3154679"/>
            <a:ext cx="25603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212121"/>
                </a:solidFill>
              </a:defRPr>
            </a:pPr>
            <a:r>
              <a:t>Redrob assessments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498079" y="3154679"/>
            <a:ext cx="8229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100" b="1">
                <a:solidFill>
                  <a:srgbClr val="028090"/>
                </a:solidFill>
              </a:defRPr>
            </a:pPr>
            <a:r>
              <a:t>8%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892040" y="3337559"/>
            <a:ext cx="3429000" cy="54864"/>
          </a:xfrm>
          <a:prstGeom prst="rect">
            <a:avLst/>
          </a:prstGeom>
          <a:solidFill>
            <a:srgbClr val="D0E8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4892040" y="3337559"/>
            <a:ext cx="1371600" cy="54864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892040" y="3483863"/>
            <a:ext cx="25603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212121"/>
                </a:solidFill>
              </a:defRPr>
            </a:pPr>
            <a:r>
              <a:t>JD TF-IDF overlap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498079" y="3483863"/>
            <a:ext cx="8229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100" b="1">
                <a:solidFill>
                  <a:srgbClr val="028090"/>
                </a:solidFill>
              </a:defRPr>
            </a:pPr>
            <a:r>
              <a:t>6%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892040" y="3666743"/>
            <a:ext cx="3429000" cy="54864"/>
          </a:xfrm>
          <a:prstGeom prst="rect">
            <a:avLst/>
          </a:prstGeom>
          <a:solidFill>
            <a:srgbClr val="D0E8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4892040" y="3666743"/>
            <a:ext cx="1028700" cy="54864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892040" y="3813047"/>
            <a:ext cx="25603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212121"/>
                </a:solidFill>
              </a:defRPr>
            </a:pPr>
            <a:r>
              <a:t>Experience band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498079" y="3813047"/>
            <a:ext cx="8229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100" b="1">
                <a:solidFill>
                  <a:srgbClr val="028090"/>
                </a:solidFill>
              </a:defRPr>
            </a:pPr>
            <a:r>
              <a:t>5%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892040" y="3995927"/>
            <a:ext cx="3429000" cy="54864"/>
          </a:xfrm>
          <a:prstGeom prst="rect">
            <a:avLst/>
          </a:prstGeom>
          <a:solidFill>
            <a:srgbClr val="D0E8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4892040" y="3995927"/>
            <a:ext cx="857250" cy="54864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892040" y="4142231"/>
            <a:ext cx="25603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212121"/>
                </a:solidFill>
              </a:defRPr>
            </a:pPr>
            <a:r>
              <a:t>Engagement signals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498079" y="4142231"/>
            <a:ext cx="8229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100" b="1">
                <a:solidFill>
                  <a:srgbClr val="028090"/>
                </a:solidFill>
              </a:defRPr>
            </a:pPr>
            <a:r>
              <a:t>5%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892040" y="4325112"/>
            <a:ext cx="3429000" cy="54864"/>
          </a:xfrm>
          <a:prstGeom prst="rect">
            <a:avLst/>
          </a:prstGeom>
          <a:solidFill>
            <a:srgbClr val="D0E8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4892040" y="4325112"/>
            <a:ext cx="857250" cy="54864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892040" y="4471416"/>
            <a:ext cx="25603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212121"/>
                </a:solidFill>
              </a:defRPr>
            </a:pPr>
            <a:r>
              <a:t>Location fit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498079" y="4471416"/>
            <a:ext cx="8229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100" b="1">
                <a:solidFill>
                  <a:srgbClr val="028090"/>
                </a:solidFill>
              </a:defRPr>
            </a:pPr>
            <a:r>
              <a:t>3%</a:t>
            </a:r>
          </a:p>
        </p:txBody>
      </p:sp>
      <p:sp>
        <p:nvSpPr>
          <p:cNvPr id="48" name="Rectangle 47"/>
          <p:cNvSpPr/>
          <p:nvPr/>
        </p:nvSpPr>
        <p:spPr>
          <a:xfrm>
            <a:off x="4892040" y="4654296"/>
            <a:ext cx="3429000" cy="54864"/>
          </a:xfrm>
          <a:prstGeom prst="rect">
            <a:avLst/>
          </a:prstGeom>
          <a:solidFill>
            <a:srgbClr val="D0E8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4892040" y="4654296"/>
            <a:ext cx="514350" cy="54864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80467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</a:defRPr>
            </a:pPr>
            <a:r>
              <a:t>Explainability &amp; Data Validation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30352"/>
            <a:ext cx="8046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CADCFC"/>
                </a:solidFill>
              </a:defRPr>
            </a:pPr>
            <a:r>
              <a:t>Grounded reasoning + trap defense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051560"/>
            <a:ext cx="40233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 b="1">
                <a:solidFill>
                  <a:srgbClr val="065A82"/>
                </a:solidFill>
              </a:defRPr>
            </a:pPr>
            <a:r>
              <a:t>Reasoning (submission_spec §3 Stage 4)</a:t>
            </a:r>
          </a:p>
          <a:p>
            <a:pPr>
              <a:spcAft>
                <a:spcPts val="600"/>
              </a:spcAft>
              <a:defRPr sz="1100">
                <a:solidFill>
                  <a:srgbClr val="212121"/>
                </a:solidFill>
              </a:defRPr>
            </a:pPr>
            <a:r>
              <a:t>Format matches spec example: specific facts + JD connection + honest concerns.</a:t>
            </a:r>
          </a:p>
          <a:p>
            <a:pPr>
              <a:spcAft>
                <a:spcPts val="600"/>
              </a:spcAft>
              <a:defRPr sz="1100">
                <a:solidFill>
                  <a:srgbClr val="212121"/>
                </a:solidFill>
              </a:defRPr>
            </a:pPr>
            <a:r>
              <a:t>Cites only fields present in candidate profile — no hallucinated employers/skills.</a:t>
            </a:r>
          </a:p>
          <a:p>
            <a:pPr>
              <a:spcAft>
                <a:spcPts val="600"/>
              </a:spcAft>
              <a:defRPr sz="1100">
                <a:solidFill>
                  <a:srgbClr val="212121"/>
                </a:solidFill>
              </a:defRPr>
            </a:pPr>
            <a:r>
              <a:t>Penalties avoided: empty reasoning, identical strings, templated name-swaps.</a:t>
            </a:r>
          </a:p>
          <a:p>
            <a:pPr>
              <a:spcAft>
                <a:spcPts val="600"/>
              </a:spcAft>
              <a:defRPr sz="1100">
                <a:solidFill>
                  <a:srgbClr val="212121"/>
                </a:solidFill>
              </a:defRPr>
            </a:pPr>
            <a:r>
              <a:t>Rank tone matches position: strong language at rank 5, honest gaps at rank 95.</a:t>
            </a:r>
          </a:p>
          <a:p>
            <a:pPr>
              <a:spcAft>
                <a:spcPts val="600"/>
              </a:spcAft>
              <a:defRPr sz="1100">
                <a:solidFill>
                  <a:srgbClr val="212121"/>
                </a:solidFill>
              </a:defRPr>
            </a:pPr>
            <a:r>
              <a:t>Validated: mock_stage4_review.py — 10/10 sampled rows pass 6/6 checks.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663440" y="1051560"/>
            <a:ext cx="3977639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 b="1">
                <a:solidFill>
                  <a:srgbClr val="065A82"/>
                </a:solidFill>
              </a:defRPr>
            </a:pPr>
            <a:r>
              <a:t>Dataset Traps (bundle README + signals doc)</a:t>
            </a:r>
          </a:p>
          <a:p>
            <a:pPr>
              <a:spcAft>
                <a:spcPts val="600"/>
              </a:spcAft>
              <a:defRPr sz="1000">
                <a:solidFill>
                  <a:srgbClr val="212121"/>
                </a:solidFill>
              </a:defRPr>
            </a:pPr>
            <a:r>
              <a:t>~80 honeypots: impossible tenure, expert skills at 0 months (tier-0 in ground truth).</a:t>
            </a:r>
          </a:p>
          <a:p>
            <a:pPr>
              <a:spcAft>
                <a:spcPts val="600"/>
              </a:spcAft>
              <a:defRPr sz="1000">
                <a:solidFill>
                  <a:srgbClr val="212121"/>
                </a:solidFill>
              </a:defRPr>
            </a:pPr>
            <a:r>
              <a:t>Keyword stuffers: weak titles (HR Manager, Accountant) + inflated AI skill lists.</a:t>
            </a:r>
          </a:p>
          <a:p>
            <a:pPr>
              <a:spcAft>
                <a:spcPts val="600"/>
              </a:spcAft>
              <a:defRPr sz="1000">
                <a:solidFill>
                  <a:srgbClr val="212121"/>
                </a:solidFill>
              </a:defRPr>
            </a:pPr>
            <a:r>
              <a:t>Behavioral twins: same profile, different redrob_signals — availability wins.</a:t>
            </a:r>
          </a:p>
          <a:p>
            <a:pPr>
              <a:spcAft>
                <a:spcPts val="600"/>
              </a:spcAft>
              <a:defRPr sz="1000">
                <a:solidFill>
                  <a:srgbClr val="212121"/>
                </a:solidFill>
              </a:defRPr>
            </a:pPr>
            <a:r>
              <a:t>Template blurbs: recycled career descriptions across thousands of profiles.</a:t>
            </a:r>
          </a:p>
          <a:p>
            <a:pPr>
              <a:spcAft>
                <a:spcPts val="600"/>
              </a:spcAft>
              <a:defRPr sz="1000">
                <a:solidFill>
                  <a:srgbClr val="212121"/>
                </a:solidFill>
              </a:defRPr>
            </a:pPr>
            <a:r>
              <a:t>sample_submission.csv is format-only (ranks honeypots) — not quality reference.</a:t>
            </a:r>
          </a:p>
          <a:p>
            <a:pPr>
              <a:spcAft>
                <a:spcPts val="600"/>
              </a:spcAft>
              <a:defRPr sz="1000">
                <a:solidFill>
                  <a:srgbClr val="212121"/>
                </a:solidFill>
              </a:defRPr>
            </a:pPr>
            <a:r>
              <a:t>Our result: 0 structural honeypots in top-100 (spec disqualifies &gt;10%).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80467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</a:defRPr>
            </a:pPr>
            <a:r>
              <a:t>End-to-End 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30352"/>
            <a:ext cx="8046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CADCFC"/>
                </a:solidFill>
              </a:defRPr>
            </a:pPr>
            <a:r>
              <a:t>JD input → ranked CSV output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1234440"/>
            <a:ext cx="1325880" cy="2377440"/>
          </a:xfrm>
          <a:prstGeom prst="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11480" y="1234440"/>
            <a:ext cx="1325880" cy="50292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1298448"/>
            <a:ext cx="1325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Step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828800"/>
            <a:ext cx="1143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300" b="1">
                <a:solidFill>
                  <a:srgbClr val="065A82"/>
                </a:solidFill>
              </a:defRPr>
            </a:pPr>
            <a:r>
              <a:t>JD Parse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4632" y="2240280"/>
            <a:ext cx="118872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0">
                <a:solidFill>
                  <a:srgbClr val="5A5A5A"/>
                </a:solidFill>
              </a:defRPr>
            </a:pPr>
            <a:r>
              <a:t>job_description.docx</a:t>
            </a:r>
            <a:br/>
            <a:r>
              <a:t>→ jd_config.py + jd_embedding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64792" y="2148840"/>
            <a:ext cx="228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800" b="1">
                <a:solidFill>
                  <a:srgbClr val="028090"/>
                </a:solidFill>
              </a:defRPr>
            </a:pPr>
            <a:r>
              <a:t>→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856232" y="1234440"/>
            <a:ext cx="1325880" cy="2377440"/>
          </a:xfrm>
          <a:prstGeom prst="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856232" y="1234440"/>
            <a:ext cx="1325880" cy="50292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856232" y="1298448"/>
            <a:ext cx="1325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Step 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947672" y="1828800"/>
            <a:ext cx="1143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300" b="1">
                <a:solidFill>
                  <a:srgbClr val="065A82"/>
                </a:solidFill>
              </a:defRPr>
            </a:pPr>
            <a:r>
              <a:t>Index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929384" y="2240280"/>
            <a:ext cx="118872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0">
                <a:solidFill>
                  <a:srgbClr val="5A5A5A"/>
                </a:solidFill>
              </a:defRPr>
            </a:pPr>
            <a:r>
              <a:t>candidates.jsonl (100K)</a:t>
            </a:r>
            <a:br/>
            <a:r>
              <a:t>→ CandidateIndex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9544" y="2148840"/>
            <a:ext cx="228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800" b="1">
                <a:solidFill>
                  <a:srgbClr val="028090"/>
                </a:solidFill>
              </a:defRPr>
            </a:pPr>
            <a:r>
              <a:t>→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300984" y="1234440"/>
            <a:ext cx="1325880" cy="2377440"/>
          </a:xfrm>
          <a:prstGeom prst="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300984" y="1234440"/>
            <a:ext cx="1325880" cy="50292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300984" y="1298448"/>
            <a:ext cx="1325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Step 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392424" y="1828800"/>
            <a:ext cx="1143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300" b="1">
                <a:solidFill>
                  <a:srgbClr val="065A82"/>
                </a:solidFill>
              </a:defRPr>
            </a:pPr>
            <a:r>
              <a:t>Embed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374136" y="2240280"/>
            <a:ext cx="118872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0">
                <a:solidFill>
                  <a:srgbClr val="5A5A5A"/>
                </a:solidFill>
              </a:defRPr>
            </a:pPr>
            <a:r>
              <a:t>Precomputed MiniLM</a:t>
            </a:r>
            <a:br/>
            <a:r>
              <a:t>embeddings.fp16.npz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654296" y="2148840"/>
            <a:ext cx="228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800" b="1">
                <a:solidFill>
                  <a:srgbClr val="028090"/>
                </a:solidFill>
              </a:defRPr>
            </a:pPr>
            <a:r>
              <a:t>→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745736" y="1234440"/>
            <a:ext cx="1325880" cy="2377440"/>
          </a:xfrm>
          <a:prstGeom prst="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745736" y="1234440"/>
            <a:ext cx="1325880" cy="50292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745736" y="1298448"/>
            <a:ext cx="1325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Step 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837176" y="1828800"/>
            <a:ext cx="1143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300" b="1">
                <a:solidFill>
                  <a:srgbClr val="065A82"/>
                </a:solidFill>
              </a:defRPr>
            </a:pPr>
            <a:r>
              <a:t>Score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818888" y="2240280"/>
            <a:ext cx="118872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0">
                <a:solidFill>
                  <a:srgbClr val="5A5A5A"/>
                </a:solidFill>
              </a:defRPr>
            </a:pPr>
            <a:r>
              <a:t>Hybrid v6 + modifiers</a:t>
            </a:r>
            <a:br/>
            <a:r>
              <a:t>per candidate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099048" y="2148840"/>
            <a:ext cx="228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800" b="1">
                <a:solidFill>
                  <a:srgbClr val="028090"/>
                </a:solidFill>
              </a:defRPr>
            </a:pPr>
            <a:r>
              <a:t>→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190488" y="1234440"/>
            <a:ext cx="1325880" cy="2377440"/>
          </a:xfrm>
          <a:prstGeom prst="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190488" y="1234440"/>
            <a:ext cx="1325880" cy="50292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190488" y="1298448"/>
            <a:ext cx="1325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Step 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281928" y="1828800"/>
            <a:ext cx="1143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300" b="1">
                <a:solidFill>
                  <a:srgbClr val="065A82"/>
                </a:solidFill>
              </a:defRPr>
            </a:pPr>
            <a:r>
              <a:t>Rank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263640" y="2240280"/>
            <a:ext cx="118872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0">
                <a:solidFill>
                  <a:srgbClr val="5A5A5A"/>
                </a:solidFill>
              </a:defRPr>
            </a:pPr>
            <a:r>
              <a:t>Sort + tie-break</a:t>
            </a:r>
            <a:br/>
            <a:r>
              <a:t>(candidate_id asc)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543800" y="2148840"/>
            <a:ext cx="228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800" b="1">
                <a:solidFill>
                  <a:srgbClr val="028090"/>
                </a:solidFill>
              </a:defRPr>
            </a:pPr>
            <a:r>
              <a:t>→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635240" y="1234440"/>
            <a:ext cx="1325880" cy="2377440"/>
          </a:xfrm>
          <a:prstGeom prst="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7635240" y="1234440"/>
            <a:ext cx="1325880" cy="50292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635240" y="1298448"/>
            <a:ext cx="1325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Step 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726680" y="1828800"/>
            <a:ext cx="1143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300" b="1">
                <a:solidFill>
                  <a:srgbClr val="065A82"/>
                </a:solidFill>
              </a:defRPr>
            </a:pPr>
            <a:r>
              <a:t>Export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708392" y="2240280"/>
            <a:ext cx="118872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0">
                <a:solidFill>
                  <a:srgbClr val="5A5A5A"/>
                </a:solidFill>
              </a:defRPr>
            </a:pPr>
            <a:r>
              <a:t>submission.csv</a:t>
            </a:r>
            <a:br/>
            <a:r>
              <a:t>top-100 + reasoning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02920" y="3977639"/>
            <a:ext cx="8138160" cy="777240"/>
          </a:xfrm>
          <a:prstGeom prst="rect">
            <a:avLst/>
          </a:prstGeom>
          <a:solidFill>
            <a:srgbClr val="E8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85800" y="4114800"/>
            <a:ext cx="7772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212121"/>
                </a:solidFill>
              </a:defRPr>
            </a:pPr>
            <a:r>
              <a:t>Reproduce: ./scripts/reproduce_ranking.sh  ·  python rank.py --candidates ./data/candidates.jsonl --out ./submission.csv</a:t>
            </a:r>
            <a:br/>
            <a:r>
              <a:t>Byte-verified: scripts/verify_submission_artifact.py confirms submission.csv matches fresh rank.py output.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80467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</a:defRPr>
            </a:pPr>
            <a:r>
              <a:t>System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30352"/>
            <a:ext cx="8046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CADCFC"/>
                </a:solidFill>
              </a:defRPr>
            </a:pPr>
            <a:r>
              <a:t>Submission ranker (graded) vs demo platform (optional)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051560"/>
            <a:ext cx="8138160" cy="2148840"/>
          </a:xfrm>
          <a:prstGeom prst="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143000"/>
            <a:ext cx="7772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065A82"/>
                </a:solidFill>
              </a:defRPr>
            </a:pPr>
            <a:r>
              <a:t>GRADED PATH — produces submission.csv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1600200"/>
            <a:ext cx="1051560" cy="50292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691640"/>
            <a:ext cx="10515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rank.py</a:t>
            </a:r>
          </a:p>
        </p:txBody>
      </p:sp>
      <p:sp>
        <p:nvSpPr>
          <p:cNvPr id="9" name="Rectangle 8"/>
          <p:cNvSpPr/>
          <p:nvPr/>
        </p:nvSpPr>
        <p:spPr>
          <a:xfrm>
            <a:off x="1920240" y="1600200"/>
            <a:ext cx="1051560" cy="50292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920240" y="1691640"/>
            <a:ext cx="10515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redrob_ranker.py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520440" y="1600200"/>
            <a:ext cx="1051560" cy="50292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520440" y="1691640"/>
            <a:ext cx="10515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features.py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892040" y="1600200"/>
            <a:ext cx="1051560" cy="50292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892040" y="1691640"/>
            <a:ext cx="10515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embeddings.py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26480" y="1600200"/>
            <a:ext cx="1051560" cy="50292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126480" y="1691640"/>
            <a:ext cx="10515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honeypot.py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269480" y="1600200"/>
            <a:ext cx="1051560" cy="50292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269480" y="1691640"/>
            <a:ext cx="10515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availability.py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2240280"/>
            <a:ext cx="77724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5A5A5A"/>
                </a:solidFill>
              </a:defRPr>
            </a:pPr>
            <a:r>
              <a:t>+ career_blurb.py (template dedup)  ·  assessment.py (IR skill tests)  ·  rerank.py (CE off)</a:t>
            </a:r>
            <a:br/>
            <a:r>
              <a:t>Input: candidates.jsonl + embeddings.fp16.npz  →  Output: submission.csv (100 rows)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2920" y="3383280"/>
            <a:ext cx="8138160" cy="1417320"/>
          </a:xfrm>
          <a:prstGeom prst="rect">
            <a:avLst/>
          </a:prstGeom>
          <a:solidFill>
            <a:srgbClr val="E8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5800" y="3493008"/>
            <a:ext cx="7772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065A82"/>
                </a:solidFill>
              </a:defRPr>
            </a:pPr>
            <a:r>
              <a:t>DEMO PATH — recruiter UI (not graded)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" y="3840480"/>
            <a:ext cx="77724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212121"/>
                </a:solidFill>
              </a:defRPr>
            </a:pPr>
            <a:r>
              <a:t>frontend/ (Next.js 14)  →  backend/ (FastAPI + LangGraph 7-agent pipeline)  →  explainability, chat, analytics</a:t>
            </a:r>
            <a:br/>
            <a:r>
              <a:t>Uses top-100 import from submission.csv for dashboard — does NOT produce the graded artifact.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80467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</a:defRPr>
            </a:pPr>
            <a:r>
              <a:t>Results &amp;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30352"/>
            <a:ext cx="8046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CADCFC"/>
                </a:solidFill>
              </a:defRPr>
            </a:pPr>
            <a:r>
              <a:t>Top picks, validation, compute compliance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051560"/>
            <a:ext cx="4114800" cy="2286000"/>
          </a:xfrm>
          <a:prstGeom prst="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143000"/>
            <a:ext cx="38404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065A82"/>
                </a:solidFill>
              </a:defRPr>
            </a:pPr>
            <a:r>
              <a:t>Top-5 Ranked Candidates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463040"/>
            <a:ext cx="4114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028090"/>
                </a:solidFill>
              </a:defRPr>
            </a:pPr>
            <a:r>
              <a:t>#1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1463040"/>
            <a:ext cx="3474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212121"/>
                </a:solidFill>
              </a:defRPr>
            </a:pPr>
            <a:r>
              <a:t>CAND_0002025  ·  0.9900  ·  Senior AI Engineer @ Apple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810512"/>
            <a:ext cx="4114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028090"/>
                </a:solidFill>
              </a:defRPr>
            </a:pPr>
            <a:r>
              <a:t>#2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1810512"/>
            <a:ext cx="3474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212121"/>
                </a:solidFill>
              </a:defRPr>
            </a:pPr>
            <a:r>
              <a:t>CAND_0046064  ·  0.9324  ·  Senior NLP Engineer @ Salesforce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157984"/>
            <a:ext cx="4114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028090"/>
                </a:solidFill>
              </a:defRPr>
            </a:pPr>
            <a:r>
              <a:t>#3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2157984"/>
            <a:ext cx="3474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212121"/>
                </a:solidFill>
              </a:defRPr>
            </a:pPr>
            <a:r>
              <a:t>CAND_0010685  ·  0.8659  ·  NLP Engineer @ Rephrase.ai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2505456"/>
            <a:ext cx="4114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028090"/>
                </a:solidFill>
              </a:defRPr>
            </a:pPr>
            <a:r>
              <a:t>#4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" y="2505456"/>
            <a:ext cx="3474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212121"/>
                </a:solidFill>
              </a:defRPr>
            </a:pPr>
            <a:r>
              <a:t>CAND_0055905  ·  0.8510  ·  Sr ML Engineer @ Flipkart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2852927"/>
            <a:ext cx="4114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028090"/>
                </a:solidFill>
              </a:defRPr>
            </a:pPr>
            <a:r>
              <a:t>#5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1560" y="2852927"/>
            <a:ext cx="3474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212121"/>
                </a:solidFill>
              </a:defRPr>
            </a:pPr>
            <a:r>
              <a:t>CAND_0018499  ·  0.8041  ·  Sr ML Engineer @ Zomato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63440" y="1051560"/>
            <a:ext cx="3977639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 b="1">
                <a:solidFill>
                  <a:srgbClr val="065A82"/>
                </a:solidFill>
              </a:defRPr>
            </a:pPr>
            <a:r>
              <a:t>Validation Results</a:t>
            </a:r>
          </a:p>
          <a:p>
            <a:pPr>
              <a:spcAft>
                <a:spcPts val="600"/>
              </a:spcAft>
              <a:defRPr sz="1100">
                <a:solidFill>
                  <a:srgbClr val="212121"/>
                </a:solidFill>
              </a:defRPr>
            </a:pPr>
            <a:r>
              <a:t>100 rows · ranks 1–100 unique · scores monotonic · 0 honeypots.</a:t>
            </a:r>
          </a:p>
          <a:p>
            <a:pPr>
              <a:spcAft>
                <a:spcPts val="600"/>
              </a:spcAft>
              <a:defRPr sz="1100">
                <a:solidFill>
                  <a:srgbClr val="212121"/>
                </a:solidFill>
              </a:defRPr>
            </a:pPr>
            <a:r>
              <a:t>All 100 candidate_ids verified in official candidates.jsonl.</a:t>
            </a:r>
          </a:p>
          <a:p>
            <a:pPr>
              <a:spcAft>
                <a:spcPts val="600"/>
              </a:spcAft>
              <a:defRPr sz="1100">
                <a:solidFill>
                  <a:srgbClr val="212121"/>
                </a:solidFill>
              </a:defRPr>
            </a:pPr>
            <a:r>
              <a:t>Byte-reproducible artifact (verify_submission_artifact.py: PASS).</a:t>
            </a:r>
          </a:p>
          <a:p>
            <a:pPr>
              <a:spcAft>
                <a:spcPts val="600"/>
              </a:spcAft>
              <a:defRPr sz="1100">
                <a:solidFill>
                  <a:srgbClr val="212121"/>
                </a:solidFill>
              </a:defRPr>
            </a:pPr>
            <a:r>
              <a:t>Reasoning: 100% unique, Stage 4 mock 10/10 rows pass.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2920" y="3520440"/>
            <a:ext cx="8138160" cy="1234440"/>
          </a:xfrm>
          <a:prstGeom prst="rect">
            <a:avLst/>
          </a:prstGeom>
          <a:solidFill>
            <a:srgbClr val="E8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3611880"/>
            <a:ext cx="25603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800" b="1">
                <a:solidFill>
                  <a:srgbClr val="065A82"/>
                </a:solidFill>
              </a:defRPr>
            </a:pPr>
            <a:r>
              <a:t>~49–60s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4114800"/>
            <a:ext cx="2560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5A5A5A"/>
                </a:solidFill>
              </a:defRPr>
            </a:pPr>
            <a:r>
              <a:t>on 100K candidates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00400" y="3611880"/>
            <a:ext cx="22860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800" b="1">
                <a:solidFill>
                  <a:srgbClr val="028090"/>
                </a:solidFill>
              </a:defRPr>
            </a:pPr>
            <a:r>
              <a:t>CPU only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200400" y="4114800"/>
            <a:ext cx="2286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5A5A5A"/>
                </a:solidFill>
              </a:defRPr>
            </a:pPr>
            <a:r>
              <a:t>no GPU · no network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669280" y="3611880"/>
            <a:ext cx="22860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800" b="1">
                <a:solidFill>
                  <a:srgbClr val="065A82"/>
                </a:solidFill>
              </a:defRPr>
            </a:pPr>
            <a:r>
              <a:t>16 GB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669280" y="4114800"/>
            <a:ext cx="2286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5A5A5A"/>
                </a:solidFill>
              </a:defRPr>
            </a:pPr>
            <a:r>
              <a:t>RAM limit met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" y="4434840"/>
            <a:ext cx="7772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5A5A5A"/>
                </a:solidFill>
              </a:defRPr>
            </a:pPr>
            <a:r>
              <a:t>Well under 5-minute wall-clock limit · embeddings bundle ~68MB fp16 · Docker reproduction supported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80467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</a:defRPr>
            </a:pPr>
            <a:r>
              <a:t>Technologies Used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30352"/>
            <a:ext cx="8046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CADCFC"/>
                </a:solidFill>
              </a:defRPr>
            </a:pPr>
            <a:r>
              <a:t>Chosen for reproducibility, scale, and spec compliance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051560"/>
            <a:ext cx="40233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 b="1">
                <a:solidFill>
                  <a:srgbClr val="065A82"/>
                </a:solidFill>
              </a:defRPr>
            </a:pPr>
            <a:r>
              <a:t>Submission Ranker (Graded)</a:t>
            </a:r>
          </a:p>
          <a:p>
            <a:pPr>
              <a:spcAft>
                <a:spcPts val="600"/>
              </a:spcAft>
              <a:defRPr sz="1100">
                <a:solidFill>
                  <a:srgbClr val="212121"/>
                </a:solidFill>
              </a:defRPr>
            </a:pPr>
            <a:r>
              <a:t>Python 3.11 · NumPy · PyYAML — minimal deps, no torch at rank time.</a:t>
            </a:r>
          </a:p>
          <a:p>
            <a:pPr>
              <a:spcAft>
                <a:spcPts val="600"/>
              </a:spcAft>
              <a:defRPr sz="1100">
                <a:solidFill>
                  <a:srgbClr val="212121"/>
                </a:solidFill>
              </a:defRPr>
            </a:pPr>
            <a:r>
              <a:t>all-MiniLM-L6-v2 bi-encoder — precomputed, committed as embeddings.fp16.npz.</a:t>
            </a:r>
          </a:p>
          <a:p>
            <a:pPr>
              <a:spcAft>
                <a:spcPts val="600"/>
              </a:spcAft>
              <a:defRPr sz="1100">
                <a:solidFill>
                  <a:srgbClr val="212121"/>
                </a:solidFill>
              </a:defRPr>
            </a:pPr>
            <a:r>
              <a:t>TF-IDF + lexical matchers for JD overlap and skill phrase detection.</a:t>
            </a:r>
          </a:p>
          <a:p>
            <a:pPr>
              <a:spcAft>
                <a:spcPts val="600"/>
              </a:spcAft>
              <a:defRPr sz="1100">
                <a:solidFill>
                  <a:srgbClr val="212121"/>
                </a:solidFill>
              </a:defRPr>
            </a:pPr>
            <a:r>
              <a:t>Docker: docker-compose.ranker.yml for Stage 3 sandbox reproduction.</a:t>
            </a:r>
          </a:p>
          <a:p>
            <a:pPr>
              <a:spcAft>
                <a:spcPts val="600"/>
              </a:spcAft>
              <a:defRPr sz="1100">
                <a:solidFill>
                  <a:srgbClr val="212121"/>
                </a:solidFill>
              </a:defRPr>
            </a:pPr>
            <a:r>
              <a:t>pytest: challenge/test_ranker.py (31 tests passing).</a:t>
            </a:r>
          </a:p>
          <a:p>
            <a:pPr>
              <a:spcAft>
                <a:spcPts val="600"/>
              </a:spcAft>
              <a:defRPr sz="1100">
                <a:solidFill>
                  <a:srgbClr val="212121"/>
                </a:solidFill>
              </a:defRPr>
            </a:pPr>
            <a:r>
              <a:t>AI dev tools: Cursor + Grok (architecture/review only — no candidate data to LLMs).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663440" y="1051560"/>
            <a:ext cx="3977639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 b="1">
                <a:solidFill>
                  <a:srgbClr val="065A82"/>
                </a:solidFill>
              </a:defRPr>
            </a:pPr>
            <a:r>
              <a:t>Demo Platform (Optional)</a:t>
            </a:r>
          </a:p>
          <a:p>
            <a:pPr>
              <a:spcAft>
                <a:spcPts val="600"/>
              </a:spcAft>
              <a:defRPr sz="1100">
                <a:solidFill>
                  <a:srgbClr val="212121"/>
                </a:solidFill>
              </a:defRPr>
            </a:pPr>
            <a:r>
              <a:t>Next.js 14 + Tailwind — recruiter dashboard, analytics, candidate actions.</a:t>
            </a:r>
          </a:p>
          <a:p>
            <a:pPr>
              <a:spcAft>
                <a:spcPts val="600"/>
              </a:spcAft>
              <a:defRPr sz="1100">
                <a:solidFill>
                  <a:srgbClr val="212121"/>
                </a:solidFill>
              </a:defRPr>
            </a:pPr>
            <a:r>
              <a:t>FastAPI + LangGraph — 7-agent pipeline for interactive ranking explanations.</a:t>
            </a:r>
          </a:p>
          <a:p>
            <a:pPr>
              <a:spcAft>
                <a:spcPts val="600"/>
              </a:spcAft>
              <a:defRPr sz="1100">
                <a:solidFill>
                  <a:srgbClr val="212121"/>
                </a:solidFill>
              </a:defRPr>
            </a:pPr>
            <a:r>
              <a:t>PostgreSQL / SQLite — workspace data; top-100 import from submission.csv.</a:t>
            </a:r>
          </a:p>
          <a:p>
            <a:pPr>
              <a:spcAft>
                <a:spcPts val="600"/>
              </a:spcAft>
              <a:defRPr sz="1100">
                <a:solidFill>
                  <a:srgbClr val="212121"/>
                </a:solidFill>
              </a:defRPr>
            </a:pPr>
            <a:r>
              <a:t>HuggingFace Spaces — sandbox for sample ranking (≤100 candidates).</a:t>
            </a:r>
          </a:p>
          <a:p>
            <a:pPr>
              <a:spcAft>
                <a:spcPts val="600"/>
              </a:spcAft>
              <a:defRPr sz="1100">
                <a:solidFill>
                  <a:srgbClr val="212121"/>
                </a:solidFill>
              </a:defRPr>
            </a:pPr>
            <a:r>
              <a:t>Vercel + Render — live product demo at recruitgpt-x.vercel.app.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80467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</a:defRPr>
            </a:pPr>
            <a:r>
              <a:t>Submission Assets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30352"/>
            <a:ext cx="8046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CADCFC"/>
                </a:solidFill>
              </a:defRPr>
            </a:pPr>
            <a:r>
              <a:t>Everything judges need to reproduce and review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097280"/>
            <a:ext cx="8138160" cy="566928"/>
          </a:xfrm>
          <a:prstGeom prst="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152144"/>
            <a:ext cx="20116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065A82"/>
                </a:solidFill>
              </a:defRPr>
            </a:pPr>
            <a:r>
              <a:t>GitHub Repository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97480" y="1152144"/>
            <a:ext cx="4114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028090"/>
                </a:solidFill>
              </a:defRPr>
            </a:pPr>
            <a:r>
              <a:t>github.com/rahulx2001/recruitgpt-x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371600"/>
            <a:ext cx="75895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A5A5A"/>
                </a:solidFill>
              </a:defRPr>
            </a:pPr>
            <a:r>
              <a:t>rank.py + challenge/ + validate_submission.py from bundle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1719072"/>
            <a:ext cx="8138160" cy="566928"/>
          </a:xfrm>
          <a:prstGeom prst="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1773936"/>
            <a:ext cx="20116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065A82"/>
                </a:solidFill>
              </a:defRPr>
            </a:pPr>
            <a:r>
              <a:t>Ranked CSV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97480" y="1773936"/>
            <a:ext cx="4114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028090"/>
                </a:solidFill>
              </a:defRPr>
            </a:pPr>
            <a:r>
              <a:t>submission.csv (top-100)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1993391"/>
            <a:ext cx="75895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A5A5A"/>
                </a:solidFill>
              </a:defRPr>
            </a:pPr>
            <a:r>
              <a:t>submission_spec v4: UTF-8, 100 rows, monotonic scores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2340864"/>
            <a:ext cx="8138160" cy="566928"/>
          </a:xfrm>
          <a:prstGeom prst="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" y="2395728"/>
            <a:ext cx="20116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065A82"/>
                </a:solidFill>
              </a:defRPr>
            </a:pPr>
            <a:r>
              <a:t>HF Sandbox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697480" y="2395728"/>
            <a:ext cx="4114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028090"/>
                </a:solidFill>
              </a:defRPr>
            </a:pPr>
            <a:r>
              <a:t>huggingface.co/spaces/rahulsinghx2001/recruitgpt-ranker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2615184"/>
            <a:ext cx="75895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A5A5A"/>
                </a:solidFill>
              </a:defRPr>
            </a:pPr>
            <a:r>
              <a:t>§10.5 — sample_candidates.json end-to-end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2962656"/>
            <a:ext cx="8138160" cy="566928"/>
          </a:xfrm>
          <a:prstGeom prst="rect">
            <a:avLst/>
          </a:prstGeom>
          <a:solidFill>
            <a:srgbClr val="E8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5800" y="3017520"/>
            <a:ext cx="20116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065A82"/>
                </a:solidFill>
              </a:defRPr>
            </a:pPr>
            <a:r>
              <a:t>Official data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697480" y="3017520"/>
            <a:ext cx="4114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028090"/>
                </a:solidFill>
              </a:defRPr>
            </a:pPr>
            <a:r>
              <a:t>candidates.jsonl (100K) + job_description.docx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3236976"/>
            <a:ext cx="75895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A5A5A"/>
                </a:solidFill>
              </a:defRPr>
            </a:pPr>
            <a:r>
              <a:t>Synced via scripts/sync_challenge_data.sh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2920" y="3584448"/>
            <a:ext cx="8138160" cy="566928"/>
          </a:xfrm>
          <a:prstGeom prst="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85800" y="3639312"/>
            <a:ext cx="20116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065A82"/>
                </a:solidFill>
              </a:defRPr>
            </a:pPr>
            <a:r>
              <a:t>Reproduce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697480" y="3639312"/>
            <a:ext cx="4114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028090"/>
                </a:solidFill>
              </a:defRPr>
            </a:pPr>
            <a:r>
              <a:t>./scripts/reproduce_ranking.sh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" y="3858768"/>
            <a:ext cx="75895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A5A5A"/>
                </a:solidFill>
              </a:defRPr>
            </a:pPr>
            <a:r>
              <a:t>CPU ≤5min · 16GB · no network · byte-verified artifact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2920" y="4206240"/>
            <a:ext cx="8138160" cy="566928"/>
          </a:xfrm>
          <a:prstGeom prst="rect">
            <a:avLst/>
          </a:prstGeom>
          <a:solidFill>
            <a:srgbClr val="E8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85800" y="4261104"/>
            <a:ext cx="20116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065A82"/>
                </a:solidFill>
              </a:defRPr>
            </a:pPr>
            <a:r>
              <a:t>Metadata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697480" y="4261104"/>
            <a:ext cx="4114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028090"/>
                </a:solidFill>
              </a:defRPr>
            </a:pPr>
            <a:r>
              <a:t>submission_metadata.yaml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5800" y="4480560"/>
            <a:ext cx="75895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A5A5A"/>
                </a:solidFill>
              </a:defRPr>
            </a:pPr>
            <a:r>
              <a:t>Team Schadn · Rahul Kumar Singh · AI tools declared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2920" y="4709160"/>
            <a:ext cx="8138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0">
                <a:solidFill>
                  <a:srgbClr val="5A5A5A"/>
                </a:solidFill>
              </a:defRPr>
            </a:pPr>
            <a:r>
              <a:t>Contact: rahulsinghx2001@gmail.com · +91-8539816642 · Team Schadn · Rahul Kumar Singh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645920"/>
            <a:ext cx="78638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560320"/>
            <a:ext cx="7863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600" b="0">
                <a:solidFill>
                  <a:srgbClr val="CADCFC"/>
                </a:solidFill>
              </a:defRPr>
            </a:pPr>
            <a:r>
              <a:t>Schadn · Rahul Kumar Singh</a:t>
            </a:r>
            <a:br/>
            <a:r>
              <a:t>RecruitGPT X — Ranking candidates like a great recruiter, not a keyword filter.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474720"/>
            <a:ext cx="78638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300" b="0">
                <a:solidFill>
                  <a:srgbClr val="02C39A"/>
                </a:solidFill>
              </a:defRPr>
            </a:pPr>
            <a:r>
              <a:t>github.com/rahulx2001/recruitgpt-x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