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337560" cy="51435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337560" y="0"/>
            <a:ext cx="5806440" cy="5143500"/>
          </a:xfrm>
          <a:prstGeom prst="rect">
            <a:avLst/>
          </a:prstGeom>
          <a:solidFill>
            <a:srgbClr val="F7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337560" y="0"/>
            <a:ext cx="73152" cy="514350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20040" y="3749039"/>
            <a:ext cx="2560320" cy="2560320"/>
          </a:xfrm>
          <a:prstGeom prst="ellipse">
            <a:avLst/>
          </a:prstGeom>
          <a:solidFill>
            <a:srgbClr val="23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182880"/>
            <a:ext cx="1280160" cy="128016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50292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1">
                <a:solidFill>
                  <a:srgbClr val="74C69D"/>
                </a:solidFill>
                <a:latin typeface="Calibri"/>
              </a:defRPr>
            </a:pPr>
            <a:r>
              <a:t>SCHADN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914400"/>
            <a:ext cx="2743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Intelligent</a:t>
            </a:r>
            <a:br/>
            <a:r>
              <a:t>Candidate</a:t>
            </a:r>
            <a:br/>
            <a:r>
              <a:t>Discovery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33172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600" b="0">
                <a:solidFill>
                  <a:srgbClr val="B7E4C7"/>
                </a:solidFill>
                <a:latin typeface="Calibri"/>
              </a:defRPr>
            </a:pPr>
            <a:r>
              <a:t>&amp; Ranking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063240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D8F3DC"/>
                </a:solidFill>
                <a:latin typeface="Calibri"/>
              </a:defRPr>
            </a:pPr>
            <a:r>
              <a:t>India Runs</a:t>
            </a:r>
            <a:br/>
            <a:r>
              <a:t>Data &amp; AI Challenge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68580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40916C"/>
                </a:solidFill>
                <a:latin typeface="Calibri"/>
              </a:defRPr>
            </a:pPr>
            <a:r>
              <a:t>EXECUTIVE SUBMISSION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960120"/>
            <a:ext cx="5212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3400" b="1">
                <a:solidFill>
                  <a:srgbClr val="1B4332"/>
                </a:solidFill>
                <a:latin typeface="Calibri"/>
              </a:defRPr>
            </a:pPr>
            <a:r>
              <a:t>Hybrid Offline Ranker</a:t>
            </a:r>
            <a:br/>
            <a:r>
              <a:t>for Redrob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1874519"/>
            <a:ext cx="5212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0">
                <a:solidFill>
                  <a:srgbClr val="5C6F62"/>
                </a:solidFill>
                <a:latin typeface="Calibri"/>
              </a:defRPr>
            </a:pPr>
            <a:r>
              <a:t>Semantic fit over keywords · Trap-aware · Production-scale CPU ranking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0" y="2606040"/>
            <a:ext cx="5074920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86200" y="2743200"/>
            <a:ext cx="21945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1">
                <a:solidFill>
                  <a:srgbClr val="1B4332"/>
                </a:solidFill>
                <a:latin typeface="Calibri"/>
              </a:defRPr>
            </a:pPr>
            <a:r>
              <a:t>Team</a:t>
            </a:r>
            <a:br/>
            <a:r>
              <a:t>Schadn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2743200"/>
            <a:ext cx="25603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1">
                <a:solidFill>
                  <a:srgbClr val="1B4332"/>
                </a:solidFill>
                <a:latin typeface="Calibri"/>
              </a:defRPr>
            </a:pPr>
            <a:r>
              <a:t>Team Leader</a:t>
            </a:r>
            <a:br/>
            <a:r>
              <a:t>Rahul Kumar Singh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840480"/>
            <a:ext cx="5074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0">
                <a:solidFill>
                  <a:srgbClr val="5C6F62"/>
                </a:solidFill>
                <a:latin typeface="Calibri"/>
              </a:defRPr>
            </a:pPr>
            <a:r>
              <a:t>Official bundle: candidates.jsonl (100K) · job_description.docx ·</a:t>
            </a:r>
            <a:br/>
            <a:r>
              <a:t>redrob_signals_doc.docx · submission_spec v4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0" y="4617720"/>
            <a:ext cx="2011680" cy="36576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016" y="0"/>
            <a:ext cx="54864" cy="5143500"/>
          </a:xfrm>
          <a:prstGeom prst="rect">
            <a:avLst/>
          </a:prstGeom>
          <a:solidFill>
            <a:srgbClr val="B7E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828032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0">
                <a:solidFill>
                  <a:srgbClr val="B7E4C7"/>
                </a:solidFill>
                <a:latin typeface="Calibri"/>
              </a:defRPr>
            </a:pPr>
            <a:r>
              <a:t>Schadn  ·  Rahul Kumar Singh  ·  India Runs Data &amp; AI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4828032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00" b="0">
                <a:solidFill>
                  <a:srgbClr val="74C69D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92608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1">
                <a:solidFill>
                  <a:srgbClr val="40916C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5488"/>
            <a:ext cx="8046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800" b="1">
                <a:solidFill>
                  <a:srgbClr val="1B4332"/>
                </a:solidFill>
                <a:latin typeface="Calibri"/>
              </a:defRPr>
            </a:pPr>
            <a:r>
              <a:t>Solution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932688"/>
            <a:ext cx="8046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>
                <a:solidFill>
                  <a:srgbClr val="5C6F62"/>
                </a:solidFill>
                <a:latin typeface="Calibri"/>
              </a:defRPr>
            </a:pPr>
            <a:r>
              <a:t>A consultant-grade ranking engine built for real recruiting constraints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234440"/>
            <a:ext cx="3977639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234440"/>
            <a:ext cx="3977639" cy="384048"/>
          </a:xfrm>
          <a:prstGeom prst="rect">
            <a:avLst/>
          </a:prstGeom>
          <a:solidFill>
            <a:srgbClr val="ED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298448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500" b="1">
                <a:solidFill>
                  <a:srgbClr val="1B4332"/>
                </a:solidFill>
                <a:latin typeface="Calibri"/>
              </a:defRPr>
            </a:pPr>
            <a:r>
              <a:t>Proposed 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737360"/>
            <a:ext cx="3611880" cy="2651760"/>
          </a:xfrm>
          <a:prstGeom prst="rect">
            <a:avLst/>
          </a:prstGeom>
          <a:noFill/>
        </p:spPr>
        <p:txBody>
          <a:bodyPr wrap="square" lIns="25400">
            <a:spAutoFit/>
          </a:bodyPr>
          <a:lstStyle/>
          <a:p>
            <a:pPr>
              <a:spcAft>
                <a:spcPts val="800"/>
              </a:spcAft>
              <a:defRPr sz="100" b="1">
                <a:solidFill>
                  <a:srgbClr val="1B4332"/>
                </a:solidFill>
                <a:latin typeface="Calibri"/>
              </a:defRPr>
            </a:pPr>
          </a:p>
          <a:p>
            <a:pPr>
              <a:lnSpc>
                <a:spcPct val="115000"/>
              </a:lnSpc>
              <a:spcAft>
                <a:spcPts val="500"/>
              </a:spcAft>
              <a:defRPr sz="1100">
                <a:solidFill>
                  <a:srgbClr val="1A2E22"/>
                </a:solidFill>
                <a:latin typeface="Calibri"/>
              </a:defRPr>
            </a:pPr>
            <a:r>
              <a:t>Rank top 100 from official candidates.jsonl per submission_spec v4.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100">
                <a:solidFill>
                  <a:srgbClr val="1A2E22"/>
                </a:solidFill>
                <a:latin typeface="Calibri"/>
              </a:defRPr>
            </a:pPr>
            <a:r>
              <a:t>Reads candidate_schema: profile, career_history, skills, redrob_signals (23 fields).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100">
                <a:solidFill>
                  <a:srgbClr val="1A2E22"/>
                </a:solidFill>
                <a:latin typeface="Calibri"/>
              </a:defRPr>
            </a:pPr>
            <a:r>
              <a:t>Hybrid offline ranker: ~49–60s on CPU — within 5 min / 16GB / no-network limits.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100">
                <a:solidFill>
                  <a:srgbClr val="1A2E22"/>
                </a:solidFill>
                <a:latin typeface="Calibri"/>
              </a:defRPr>
            </a:pPr>
            <a:r>
              <a:t>Grounded 2-sentence reasoning per row aligned to Stage 4 review criteria.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1234440"/>
            <a:ext cx="3977639" cy="3337560"/>
          </a:xfrm>
          <a:prstGeom prst="roundRect">
            <a:avLst/>
          </a:prstGeom>
          <a:solidFill>
            <a:srgbClr val="EDF7F0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63440" y="1234440"/>
            <a:ext cx="3977639" cy="384048"/>
          </a:xfrm>
          <a:prstGeom prst="rect">
            <a:avLst/>
          </a:prstGeom>
          <a:solidFill>
            <a:srgbClr val="B7E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1298448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500" b="1">
                <a:solidFill>
                  <a:srgbClr val="1B4332"/>
                </a:solidFill>
                <a:latin typeface="Calibri"/>
              </a:defRPr>
            </a:pPr>
            <a:r>
              <a:t>Strategic Differentiation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1737360"/>
            <a:ext cx="3611880" cy="2651760"/>
          </a:xfrm>
          <a:prstGeom prst="rect">
            <a:avLst/>
          </a:prstGeom>
          <a:noFill/>
        </p:spPr>
        <p:txBody>
          <a:bodyPr wrap="square" lIns="25400">
            <a:spAutoFit/>
          </a:bodyPr>
          <a:lstStyle/>
          <a:p>
            <a:pPr>
              <a:spcAft>
                <a:spcPts val="800"/>
              </a:spcAft>
              <a:defRPr sz="100" b="1">
                <a:solidFill>
                  <a:srgbClr val="1B4332"/>
                </a:solidFill>
                <a:latin typeface="Calibri"/>
              </a:defRPr>
            </a:pPr>
          </a:p>
          <a:p>
            <a:pPr>
              <a:lnSpc>
                <a:spcPct val="115000"/>
              </a:lnSpc>
              <a:spcAft>
                <a:spcPts val="500"/>
              </a:spcAft>
              <a:defRPr sz="1050">
                <a:solidFill>
                  <a:srgbClr val="1A2E22"/>
                </a:solidFill>
                <a:latin typeface="Calibri"/>
              </a:defRPr>
            </a:pPr>
            <a:r>
              <a:t>Defends bundle traps: keyword stuffers, behavioral twins, ~80 honeypots.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050">
                <a:solidFill>
                  <a:srgbClr val="1A2E22"/>
                </a:solidFill>
                <a:latin typeface="Calibri"/>
              </a:defRPr>
            </a:pPr>
            <a:r>
              <a:t>Career semantics + IR skill trust + Redrob behavioral modifier.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050">
                <a:solidFill>
                  <a:srgbClr val="1A2E22"/>
                </a:solidFill>
                <a:latin typeface="Calibri"/>
              </a:defRPr>
            </a:pPr>
            <a:r>
              <a:t>Mirrors JD disqualifiers: research-only, consulting-only, CV/speech-only.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050">
                <a:solidFill>
                  <a:srgbClr val="1A2E22"/>
                </a:solidFill>
                <a:latin typeface="Calibri"/>
              </a:defRPr>
            </a:pPr>
            <a:r>
              <a:t>open_to_work_flag=false cannot reach top-10.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050">
                <a:solidFill>
                  <a:srgbClr val="1A2E22"/>
                </a:solidFill>
                <a:latin typeface="Calibri"/>
              </a:defRPr>
            </a:pPr>
            <a:r>
              <a:t>Shipper-first: scales to 200K+ without per-candidate LLM cost.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016" y="0"/>
            <a:ext cx="54864" cy="5143500"/>
          </a:xfrm>
          <a:prstGeom prst="rect">
            <a:avLst/>
          </a:prstGeom>
          <a:solidFill>
            <a:srgbClr val="B7E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828032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0">
                <a:solidFill>
                  <a:srgbClr val="B7E4C7"/>
                </a:solidFill>
                <a:latin typeface="Calibri"/>
              </a:defRPr>
            </a:pPr>
            <a:r>
              <a:t>Schadn  ·  Rahul Kumar Singh  ·  India Runs Data &amp; AI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4828032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00" b="0">
                <a:solidFill>
                  <a:srgbClr val="74C69D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92608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1">
                <a:solidFill>
                  <a:srgbClr val="40916C"/>
                </a:solidFill>
                <a:latin typeface="Calibri"/>
              </a:defRPr>
            </a:pPr>
            <a:r>
              <a:t>JD &amp; SIGNALS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5488"/>
            <a:ext cx="8046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800" b="1">
                <a:solidFill>
                  <a:srgbClr val="1B4332"/>
                </a:solidFill>
                <a:latin typeface="Calibri"/>
              </a:defRPr>
            </a:pPr>
            <a:r>
              <a:t>JD Understanding &amp; Candidate Signals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932688"/>
            <a:ext cx="8046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>
                <a:solidFill>
                  <a:srgbClr val="5C6F62"/>
                </a:solidFill>
                <a:latin typeface="Calibri"/>
              </a:defRPr>
            </a:pPr>
            <a:r>
              <a:t>Grounded in job_description.docx · candidate_schema.json · redrob_signals_doc.docx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170432"/>
            <a:ext cx="402336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280160"/>
            <a:ext cx="3657600" cy="1600200"/>
          </a:xfrm>
          <a:prstGeom prst="rect">
            <a:avLst/>
          </a:prstGeom>
          <a:noFill/>
        </p:spPr>
        <p:txBody>
          <a:bodyPr wrap="square" lIns="2540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B4332"/>
                </a:solidFill>
                <a:latin typeface="Calibri"/>
              </a:defRPr>
            </a:pPr>
            <a:r>
              <a:t>From job_description.docx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000">
                <a:solidFill>
                  <a:srgbClr val="1A2E22"/>
                </a:solidFill>
                <a:latin typeface="Calibri"/>
              </a:defRPr>
            </a:pPr>
            <a:r>
              <a:t>Senior AI Engineer — Founding Team @ Redrob AI (Series A).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000">
                <a:solidFill>
                  <a:srgbClr val="1A2E22"/>
                </a:solidFill>
                <a:latin typeface="Calibri"/>
              </a:defRPr>
            </a:pPr>
            <a:r>
              <a:t>Pune/Noida preferred · 5–9 years · production IR over research.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000">
                <a:solidFill>
                  <a:srgbClr val="1A2E22"/>
                </a:solidFill>
                <a:latin typeface="Calibri"/>
              </a:defRPr>
            </a:pPr>
            <a:r>
              <a:t>Must-have: embeddings retrieval, vector DB, Python, NDCG/MRR/MAP eval.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000">
                <a:solidFill>
                  <a:srgbClr val="1A2E22"/>
                </a:solidFill>
                <a:latin typeface="Calibri"/>
              </a:defRPr>
            </a:pPr>
            <a:r>
              <a:t>Rejects: research-only, LangChain-only, consulting-only, CV without IR.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090672"/>
            <a:ext cx="4023360" cy="1572768"/>
          </a:xfrm>
          <a:prstGeom prst="roundRect">
            <a:avLst/>
          </a:prstGeom>
          <a:solidFill>
            <a:srgbClr val="EDF7F0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200400"/>
            <a:ext cx="3657600" cy="1371600"/>
          </a:xfrm>
          <a:prstGeom prst="rect">
            <a:avLst/>
          </a:prstGeom>
          <a:noFill/>
        </p:spPr>
        <p:txBody>
          <a:bodyPr wrap="square" lIns="2540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B4332"/>
                </a:solidFill>
                <a:latin typeface="Calibri"/>
              </a:defRPr>
            </a:pPr>
            <a:r>
              <a:t>candidate_schema.json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000">
                <a:solidFill>
                  <a:srgbClr val="1A2E22"/>
                </a:solidFill>
                <a:latin typeface="Calibri"/>
              </a:defRPr>
            </a:pPr>
            <a:r>
              <a:t>profile · career_history · skills · redrob_signals (23 fields).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000">
                <a:solidFill>
                  <a:srgbClr val="1A2E22"/>
                </a:solidFill>
                <a:latin typeface="Calibri"/>
              </a:defRPr>
            </a:pPr>
            <a:r>
              <a:t>Skills carry proficiency, endorsements, duration_months as trust signals.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1170432"/>
            <a:ext cx="3977639" cy="3493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1280160"/>
            <a:ext cx="3611880" cy="3246120"/>
          </a:xfrm>
          <a:prstGeom prst="rect">
            <a:avLst/>
          </a:prstGeom>
          <a:noFill/>
        </p:spPr>
        <p:txBody>
          <a:bodyPr wrap="square" lIns="2540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B4332"/>
                </a:solidFill>
                <a:latin typeface="Calibri"/>
              </a:defRPr>
            </a:pPr>
            <a:r>
              <a:t>23 Redrob Signals (weighted)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950">
                <a:solidFill>
                  <a:srgbClr val="1A2E22"/>
                </a:solidFill>
                <a:latin typeface="Calibri"/>
              </a:defRPr>
            </a:pPr>
            <a:r>
              <a:t>Availability: open_to_work_flag, last_active_date, notice_period_days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950">
                <a:solidFill>
                  <a:srgbClr val="1A2E22"/>
                </a:solidFill>
                <a:latin typeface="Calibri"/>
              </a:defRPr>
            </a:pPr>
            <a:r>
              <a:t>Responsiveness: recruiter_response_rate, avg_response_time_hours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950">
                <a:solidFill>
                  <a:srgbClr val="1A2E22"/>
                </a:solidFill>
                <a:latin typeface="Calibri"/>
              </a:defRPr>
            </a:pPr>
            <a:r>
              <a:t>Engagement: profile_views, saved_by_recruiters, search_appearance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950">
                <a:solidFill>
                  <a:srgbClr val="1A2E22"/>
                </a:solidFill>
                <a:latin typeface="Calibri"/>
              </a:defRPr>
            </a:pPr>
            <a:r>
              <a:t>Quality: skill_assessment_scores, github_activity_score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950">
                <a:solidFill>
                  <a:srgbClr val="1A2E22"/>
                </a:solidFill>
                <a:latin typeface="Calibri"/>
              </a:defRPr>
            </a:pPr>
            <a:r>
              <a:t>Trust: verified_email, verified_phone, linkedin_connected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950">
                <a:solidFill>
                  <a:srgbClr val="1A2E22"/>
                </a:solidFill>
                <a:latin typeface="Calibri"/>
              </a:defRPr>
            </a:pPr>
            <a:r>
              <a:t>Intent: willing_to_relocate, preferred_work_mode, salary range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016" y="0"/>
            <a:ext cx="54864" cy="5143500"/>
          </a:xfrm>
          <a:prstGeom prst="rect">
            <a:avLst/>
          </a:prstGeom>
          <a:solidFill>
            <a:srgbClr val="B7E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828032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0">
                <a:solidFill>
                  <a:srgbClr val="B7E4C7"/>
                </a:solidFill>
                <a:latin typeface="Calibri"/>
              </a:defRPr>
            </a:pPr>
            <a:r>
              <a:t>Schadn  ·  Rahul Kumar Singh  ·  India Runs Data &amp; AI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4828032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00" b="0">
                <a:solidFill>
                  <a:srgbClr val="74C69D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92608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1">
                <a:solidFill>
                  <a:srgbClr val="40916C"/>
                </a:solidFill>
                <a:latin typeface="Calibri"/>
              </a:defRPr>
            </a:pPr>
            <a:r>
              <a:t>METHODOLOGY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5488"/>
            <a:ext cx="8046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800" b="1">
                <a:solidFill>
                  <a:srgbClr val="1B4332"/>
                </a:solidFill>
                <a:latin typeface="Calibri"/>
              </a:defRPr>
            </a:pPr>
            <a:r>
              <a:t>Ranking Methodology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932688"/>
            <a:ext cx="8046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>
                <a:solidFill>
                  <a:srgbClr val="5C6F62"/>
                </a:solidFill>
                <a:latin typeface="Calibri"/>
              </a:defRPr>
            </a:pPr>
            <a:r>
              <a:t>Hybrid v6 — retrieve, score, rank, explain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170432"/>
            <a:ext cx="402336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280160"/>
            <a:ext cx="3657600" cy="1691640"/>
          </a:xfrm>
          <a:prstGeom prst="rect">
            <a:avLst/>
          </a:prstGeom>
          <a:noFill/>
        </p:spPr>
        <p:txBody>
          <a:bodyPr wrap="square" lIns="2540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B4332"/>
                </a:solidFill>
                <a:latin typeface="Calibri"/>
              </a:defRPr>
            </a:pPr>
            <a:r>
              <a:t>Pipeline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050">
                <a:solidFill>
                  <a:srgbClr val="1A2E22"/>
                </a:solidFill>
                <a:latin typeface="Calibri"/>
              </a:defRPr>
            </a:pPr>
            <a:r>
              <a:t>1  Parse job_description.docx → jd_config.py + JD embedding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050">
                <a:solidFill>
                  <a:srgbClr val="1A2E22"/>
                </a:solidFill>
                <a:latin typeface="Calibri"/>
              </a:defRPr>
            </a:pPr>
            <a:r>
              <a:t>2  Load candidates.jsonl (100K) → CandidateIndex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050">
                <a:solidFill>
                  <a:srgbClr val="1A2E22"/>
                </a:solidFill>
                <a:latin typeface="Calibri"/>
              </a:defRPr>
            </a:pPr>
            <a:r>
              <a:t>3  Score: hybrid v6 + redrob_signals + honeypot traps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050">
                <a:solidFill>
                  <a:srgbClr val="1A2E22"/>
                </a:solidFill>
                <a:latin typeface="Calibri"/>
              </a:defRPr>
            </a:pPr>
            <a:r>
              <a:t>4  Sort ranks 1–100; tie-break candidate_id ascending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050">
                <a:solidFill>
                  <a:srgbClr val="1A2E22"/>
                </a:solidFill>
                <a:latin typeface="Calibri"/>
              </a:defRPr>
            </a:pPr>
            <a:r>
              <a:t>5  Export submission.csv — UTF-8, monotonic scores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182112"/>
            <a:ext cx="4023360" cy="1481328"/>
          </a:xfrm>
          <a:prstGeom prst="roundRect">
            <a:avLst/>
          </a:prstGeom>
          <a:solidFill>
            <a:srgbClr val="EDF7F0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291840"/>
            <a:ext cx="3657600" cy="1280160"/>
          </a:xfrm>
          <a:prstGeom prst="rect">
            <a:avLst/>
          </a:prstGeom>
          <a:noFill/>
        </p:spPr>
        <p:txBody>
          <a:bodyPr wrap="square" lIns="2540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B4332"/>
                </a:solidFill>
                <a:latin typeface="Calibri"/>
              </a:defRPr>
            </a:pPr>
            <a:r>
              <a:t>Models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050">
                <a:solidFill>
                  <a:srgbClr val="1A2E22"/>
                </a:solidFill>
                <a:latin typeface="Calibri"/>
              </a:defRPr>
            </a:pPr>
            <a:r>
              <a:t>MiniLM-L6-v2 bi-encoder (embeddings.fp16.npz, 100K vectors)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050">
                <a:solidFill>
                  <a:srgbClr val="1A2E22"/>
                </a:solidFill>
                <a:latin typeface="Calibri"/>
              </a:defRPr>
            </a:pPr>
            <a:r>
              <a:t>TF-IDF JD overlap · heuristic modifiers · CE OFF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1170432"/>
            <a:ext cx="3977639" cy="3493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1298448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500" b="1">
                <a:solidFill>
                  <a:srgbClr val="1B4332"/>
                </a:solidFill>
                <a:latin typeface="Calibri"/>
              </a:defRPr>
            </a:pPr>
            <a:r>
              <a:t>v6 Signal Weights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1627632"/>
            <a:ext cx="2286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1A2E22"/>
                </a:solidFill>
                <a:latin typeface="Calibri"/>
              </a:defRPr>
            </a:pPr>
            <a:r>
              <a:t>Title alignment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1627632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1">
                <a:solidFill>
                  <a:srgbClr val="2D6A4F"/>
                </a:solidFill>
                <a:latin typeface="Calibri"/>
              </a:defRPr>
            </a:pPr>
            <a:r>
              <a:t>20%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92040" y="1810512"/>
            <a:ext cx="2971800" cy="91440"/>
          </a:xfrm>
          <a:prstGeom prst="roundRect">
            <a:avLst/>
          </a:prstGeom>
          <a:solidFill>
            <a:srgbClr val="EDF7F0"/>
          </a:solidFill>
          <a:ln w="9525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892040" y="1810512"/>
            <a:ext cx="2971800" cy="91440"/>
          </a:xfrm>
          <a:prstGeom prst="round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92040" y="1938528"/>
            <a:ext cx="2286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1A2E22"/>
                </a:solidFill>
                <a:latin typeface="Calibri"/>
              </a:defRPr>
            </a:pPr>
            <a:r>
              <a:t>Core IR skills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1938528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1">
                <a:solidFill>
                  <a:srgbClr val="2D6A4F"/>
                </a:solidFill>
                <a:latin typeface="Calibri"/>
              </a:defRPr>
            </a:pPr>
            <a:r>
              <a:t>18%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92040" y="2121408"/>
            <a:ext cx="2971800" cy="91440"/>
          </a:xfrm>
          <a:prstGeom prst="roundRect">
            <a:avLst/>
          </a:prstGeom>
          <a:solidFill>
            <a:srgbClr val="EDF7F0"/>
          </a:solidFill>
          <a:ln w="9525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892040" y="2121408"/>
            <a:ext cx="2674620" cy="91440"/>
          </a:xfrm>
          <a:prstGeom prst="round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92040" y="2249424"/>
            <a:ext cx="2286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1A2E22"/>
                </a:solidFill>
                <a:latin typeface="Calibri"/>
              </a:defRPr>
            </a:pPr>
            <a:r>
              <a:t>Career semantic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20" y="2249424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1">
                <a:solidFill>
                  <a:srgbClr val="2D6A4F"/>
                </a:solidFill>
                <a:latin typeface="Calibri"/>
              </a:defRPr>
            </a:pPr>
            <a:r>
              <a:t>14%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92040" y="2432304"/>
            <a:ext cx="2971800" cy="91440"/>
          </a:xfrm>
          <a:prstGeom prst="roundRect">
            <a:avLst/>
          </a:prstGeom>
          <a:solidFill>
            <a:srgbClr val="EDF7F0"/>
          </a:solidFill>
          <a:ln w="9525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892040" y="2432304"/>
            <a:ext cx="2080260" cy="91440"/>
          </a:xfrm>
          <a:prstGeom prst="round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92040" y="2560320"/>
            <a:ext cx="2286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1A2E22"/>
                </a:solidFill>
                <a:latin typeface="Calibri"/>
              </a:defRPr>
            </a:pPr>
            <a:r>
              <a:t>Production pedigree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60920" y="2560320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1">
                <a:solidFill>
                  <a:srgbClr val="2D6A4F"/>
                </a:solidFill>
                <a:latin typeface="Calibri"/>
              </a:defRPr>
            </a:pPr>
            <a:r>
              <a:t>12%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92040" y="2743200"/>
            <a:ext cx="2971800" cy="91440"/>
          </a:xfrm>
          <a:prstGeom prst="roundRect">
            <a:avLst/>
          </a:prstGeom>
          <a:solidFill>
            <a:srgbClr val="EDF7F0"/>
          </a:solidFill>
          <a:ln w="9525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892040" y="2743200"/>
            <a:ext cx="1783080" cy="91440"/>
          </a:xfrm>
          <a:prstGeom prst="round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92040" y="2871215"/>
            <a:ext cx="2286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1A2E22"/>
                </a:solidFill>
                <a:latin typeface="Calibri"/>
              </a:defRPr>
            </a:pPr>
            <a:r>
              <a:t>Availability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60920" y="2871215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1">
                <a:solidFill>
                  <a:srgbClr val="2D6A4F"/>
                </a:solidFill>
                <a:latin typeface="Calibri"/>
              </a:defRPr>
            </a:pPr>
            <a:r>
              <a:t>12%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892040" y="3054096"/>
            <a:ext cx="2971800" cy="91440"/>
          </a:xfrm>
          <a:prstGeom prst="roundRect">
            <a:avLst/>
          </a:prstGeom>
          <a:solidFill>
            <a:srgbClr val="EDF7F0"/>
          </a:solidFill>
          <a:ln w="9525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892040" y="3054096"/>
            <a:ext cx="1783080" cy="91440"/>
          </a:xfrm>
          <a:prstGeom prst="round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92040" y="3182111"/>
            <a:ext cx="2286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1A2E22"/>
                </a:solidFill>
                <a:latin typeface="Calibri"/>
              </a:defRPr>
            </a:pPr>
            <a:r>
              <a:t>Assessments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60920" y="3182111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1">
                <a:solidFill>
                  <a:srgbClr val="2D6A4F"/>
                </a:solidFill>
                <a:latin typeface="Calibri"/>
              </a:defRPr>
            </a:pPr>
            <a:r>
              <a:t>8%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892040" y="3364991"/>
            <a:ext cx="2971800" cy="91440"/>
          </a:xfrm>
          <a:prstGeom prst="roundRect">
            <a:avLst/>
          </a:prstGeom>
          <a:solidFill>
            <a:srgbClr val="EDF7F0"/>
          </a:solidFill>
          <a:ln w="9525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892040" y="3364991"/>
            <a:ext cx="1188720" cy="91440"/>
          </a:xfrm>
          <a:prstGeom prst="round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92040" y="3493007"/>
            <a:ext cx="2286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1A2E22"/>
                </a:solidFill>
                <a:latin typeface="Calibri"/>
              </a:defRPr>
            </a:pPr>
            <a:r>
              <a:t>JD overlap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60920" y="3493007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1">
                <a:solidFill>
                  <a:srgbClr val="2D6A4F"/>
                </a:solidFill>
                <a:latin typeface="Calibri"/>
              </a:defRPr>
            </a:pPr>
            <a:r>
              <a:t>6%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892040" y="3675887"/>
            <a:ext cx="2971800" cy="91440"/>
          </a:xfrm>
          <a:prstGeom prst="roundRect">
            <a:avLst/>
          </a:prstGeom>
          <a:solidFill>
            <a:srgbClr val="EDF7F0"/>
          </a:solidFill>
          <a:ln w="9525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892040" y="3675887"/>
            <a:ext cx="891540" cy="91440"/>
          </a:xfrm>
          <a:prstGeom prst="round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92040" y="3803903"/>
            <a:ext cx="2286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1A2E22"/>
                </a:solidFill>
                <a:latin typeface="Calibri"/>
              </a:defRPr>
            </a:pPr>
            <a:r>
              <a:t>Experience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60920" y="3803903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1">
                <a:solidFill>
                  <a:srgbClr val="2D6A4F"/>
                </a:solidFill>
                <a:latin typeface="Calibri"/>
              </a:defRPr>
            </a:pPr>
            <a:r>
              <a:t>5%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892040" y="3986783"/>
            <a:ext cx="2971800" cy="91440"/>
          </a:xfrm>
          <a:prstGeom prst="roundRect">
            <a:avLst/>
          </a:prstGeom>
          <a:solidFill>
            <a:srgbClr val="EDF7F0"/>
          </a:solidFill>
          <a:ln w="9525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4892040" y="3986783"/>
            <a:ext cx="742950" cy="91440"/>
          </a:xfrm>
          <a:prstGeom prst="round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892040" y="4114799"/>
            <a:ext cx="2286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1A2E22"/>
                </a:solidFill>
                <a:latin typeface="Calibri"/>
              </a:defRPr>
            </a:pPr>
            <a:r>
              <a:t>Engagement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60920" y="4114799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1">
                <a:solidFill>
                  <a:srgbClr val="2D6A4F"/>
                </a:solidFill>
                <a:latin typeface="Calibri"/>
              </a:defRPr>
            </a:pPr>
            <a:r>
              <a:t>5%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892040" y="4297679"/>
            <a:ext cx="2971800" cy="91440"/>
          </a:xfrm>
          <a:prstGeom prst="roundRect">
            <a:avLst/>
          </a:prstGeom>
          <a:solidFill>
            <a:srgbClr val="EDF7F0"/>
          </a:solidFill>
          <a:ln w="9525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4892040" y="4297679"/>
            <a:ext cx="742950" cy="91440"/>
          </a:xfrm>
          <a:prstGeom prst="round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892040" y="4425695"/>
            <a:ext cx="2286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1A2E22"/>
                </a:solidFill>
                <a:latin typeface="Calibri"/>
              </a:defRPr>
            </a:pPr>
            <a:r>
              <a:t>Location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60920" y="4425695"/>
            <a:ext cx="502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1">
                <a:solidFill>
                  <a:srgbClr val="2D6A4F"/>
                </a:solidFill>
                <a:latin typeface="Calibri"/>
              </a:defRPr>
            </a:pPr>
            <a:r>
              <a:t>3%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892040" y="4608575"/>
            <a:ext cx="2971800" cy="91440"/>
          </a:xfrm>
          <a:prstGeom prst="roundRect">
            <a:avLst/>
          </a:prstGeom>
          <a:solidFill>
            <a:srgbClr val="EDF7F0"/>
          </a:solidFill>
          <a:ln w="9525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4892040" y="4608575"/>
            <a:ext cx="445770" cy="91440"/>
          </a:xfrm>
          <a:prstGeom prst="round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016" y="0"/>
            <a:ext cx="54864" cy="5143500"/>
          </a:xfrm>
          <a:prstGeom prst="rect">
            <a:avLst/>
          </a:prstGeom>
          <a:solidFill>
            <a:srgbClr val="B7E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828032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0">
                <a:solidFill>
                  <a:srgbClr val="B7E4C7"/>
                </a:solidFill>
                <a:latin typeface="Calibri"/>
              </a:defRPr>
            </a:pPr>
            <a:r>
              <a:t>Schadn  ·  Rahul Kumar Singh  ·  India Runs Data &amp; AI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4828032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00" b="0">
                <a:solidFill>
                  <a:srgbClr val="74C69D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92608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1">
                <a:solidFill>
                  <a:srgbClr val="40916C"/>
                </a:solidFill>
                <a:latin typeface="Calibri"/>
              </a:defRPr>
            </a:pPr>
            <a:r>
              <a:t>EXPLAINABILITY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5488"/>
            <a:ext cx="8046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800" b="1">
                <a:solidFill>
                  <a:srgbClr val="1B4332"/>
                </a:solidFill>
                <a:latin typeface="Calibri"/>
              </a:defRPr>
            </a:pPr>
            <a:r>
              <a:t>Explainability &amp; Data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932688"/>
            <a:ext cx="8046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>
                <a:solidFill>
                  <a:srgbClr val="5C6F62"/>
                </a:solidFill>
                <a:latin typeface="Calibri"/>
              </a:defRPr>
            </a:pPr>
            <a:r>
              <a:t>Transparent decisions judges can audit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170432"/>
            <a:ext cx="4023360" cy="3493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280160"/>
            <a:ext cx="3657600" cy="3246120"/>
          </a:xfrm>
          <a:prstGeom prst="rect">
            <a:avLst/>
          </a:prstGeom>
          <a:noFill/>
        </p:spPr>
        <p:txBody>
          <a:bodyPr wrap="square" lIns="2540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B4332"/>
                </a:solidFill>
                <a:latin typeface="Calibri"/>
              </a:defRPr>
            </a:pPr>
            <a:r>
              <a:t>Reasoning Quality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050">
                <a:solidFill>
                  <a:srgbClr val="1A2E22"/>
                </a:solidFill>
                <a:latin typeface="Calibri"/>
              </a:defRPr>
            </a:pPr>
            <a:r>
              <a:t>2 sentences: specific facts + JD link + honest concerns.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050">
                <a:solidFill>
                  <a:srgbClr val="1A2E22"/>
                </a:solidFill>
                <a:latin typeface="Calibri"/>
              </a:defRPr>
            </a:pPr>
            <a:r>
              <a:t>Only cites fields present in profile — zero hallucination.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050">
                <a:solidFill>
                  <a:srgbClr val="1A2E22"/>
                </a:solidFill>
                <a:latin typeface="Calibri"/>
              </a:defRPr>
            </a:pPr>
            <a:r>
              <a:t>Avoids: empty, identical, or templated reasoning strings.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050">
                <a:solidFill>
                  <a:srgbClr val="1A2E22"/>
                </a:solidFill>
                <a:latin typeface="Calibri"/>
              </a:defRPr>
            </a:pPr>
            <a:r>
              <a:t>Rank tone matches position (strong at #5, candid at #95).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050">
                <a:solidFill>
                  <a:srgbClr val="1A2E22"/>
                </a:solidFill>
                <a:latin typeface="Calibri"/>
              </a:defRPr>
            </a:pPr>
            <a:r>
              <a:t>Validated: mock_stage4_review — 10/10 rows, 6/6 checks each.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1170432"/>
            <a:ext cx="3977639" cy="3493008"/>
          </a:xfrm>
          <a:prstGeom prst="roundRect">
            <a:avLst/>
          </a:prstGeom>
          <a:solidFill>
            <a:srgbClr val="EDF7F0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1280160"/>
            <a:ext cx="3611880" cy="3246120"/>
          </a:xfrm>
          <a:prstGeom prst="rect">
            <a:avLst/>
          </a:prstGeom>
          <a:noFill/>
        </p:spPr>
        <p:txBody>
          <a:bodyPr wrap="square" lIns="2540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B4332"/>
                </a:solidFill>
                <a:latin typeface="Calibri"/>
              </a:defRPr>
            </a:pPr>
            <a:r>
              <a:t>Trap Defense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000">
                <a:solidFill>
                  <a:srgbClr val="1A2E22"/>
                </a:solidFill>
                <a:latin typeface="Calibri"/>
              </a:defRPr>
            </a:pPr>
            <a:r>
              <a:t>~80 honeypots: impossible tenure, expert skills at 0 months.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000">
                <a:solidFill>
                  <a:srgbClr val="1A2E22"/>
                </a:solidFill>
                <a:latin typeface="Calibri"/>
              </a:defRPr>
            </a:pPr>
            <a:r>
              <a:t>Keyword stuffers: weak titles + inflated AI skill lists.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000">
                <a:solidFill>
                  <a:srgbClr val="1A2E22"/>
                </a:solidFill>
                <a:latin typeface="Calibri"/>
              </a:defRPr>
            </a:pPr>
            <a:r>
              <a:t>Behavioral twins: same profile, different signals — availability wins.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000">
                <a:solidFill>
                  <a:srgbClr val="1A2E22"/>
                </a:solidFill>
                <a:latin typeface="Calibri"/>
              </a:defRPr>
            </a:pPr>
            <a:r>
              <a:t>Template blurbs: recycled descriptions demoted.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000">
                <a:solidFill>
                  <a:srgbClr val="1A2E22"/>
                </a:solidFill>
                <a:latin typeface="Calibri"/>
              </a:defRPr>
            </a:pPr>
            <a:r>
              <a:t>sample_submission.csv = format only (ranks honeypots by design).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000">
                <a:solidFill>
                  <a:srgbClr val="1A2E22"/>
                </a:solidFill>
                <a:latin typeface="Calibri"/>
              </a:defRPr>
            </a:pPr>
            <a:r>
              <a:t>Our result: 0 honeypots in top-100 (limit: 10%).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016" y="0"/>
            <a:ext cx="54864" cy="5143500"/>
          </a:xfrm>
          <a:prstGeom prst="rect">
            <a:avLst/>
          </a:prstGeom>
          <a:solidFill>
            <a:srgbClr val="B7E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828032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0">
                <a:solidFill>
                  <a:srgbClr val="B7E4C7"/>
                </a:solidFill>
                <a:latin typeface="Calibri"/>
              </a:defRPr>
            </a:pPr>
            <a:r>
              <a:t>Schadn  ·  Rahul Kumar Singh  ·  India Runs Data &amp; AI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4828032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00" b="0">
                <a:solidFill>
                  <a:srgbClr val="74C69D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92608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1">
                <a:solidFill>
                  <a:srgbClr val="40916C"/>
                </a:solidFill>
                <a:latin typeface="Calibri"/>
              </a:defRPr>
            </a:pPr>
            <a:r>
              <a:t>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5488"/>
            <a:ext cx="8046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800" b="1">
                <a:solidFill>
                  <a:srgbClr val="1B4332"/>
                </a:solidFill>
                <a:latin typeface="Calibri"/>
              </a:defRPr>
            </a:pPr>
            <a:r>
              <a:t>End-to-End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932688"/>
            <a:ext cx="8046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>
                <a:solidFill>
                  <a:srgbClr val="5C6F62"/>
                </a:solidFill>
                <a:latin typeface="Calibri"/>
              </a:defRPr>
            </a:pPr>
            <a:r>
              <a:t>From official JD to submission-ready CSV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" y="1325880"/>
            <a:ext cx="1298448" cy="2148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444752"/>
            <a:ext cx="420624" cy="420624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490472"/>
            <a:ext cx="4206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3" y="2011680"/>
            <a:ext cx="11521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200" b="1">
                <a:solidFill>
                  <a:srgbClr val="1B4332"/>
                </a:solidFill>
                <a:latin typeface="Calibri"/>
              </a:defRPr>
            </a:pPr>
            <a:r>
              <a:t>JD Parse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" y="2377440"/>
            <a:ext cx="1188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0">
                <a:solidFill>
                  <a:srgbClr val="5C6F62"/>
                </a:solidFill>
                <a:latin typeface="Calibri"/>
              </a:defRPr>
            </a:pPr>
            <a:r>
              <a:t>job_description.docx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55648" y="1965960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2000" b="1">
                <a:solidFill>
                  <a:srgbClr val="40916C"/>
                </a:solidFill>
                <a:latin typeface="Calibri"/>
              </a:defRPr>
            </a:pPr>
            <a: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65376" y="1325880"/>
            <a:ext cx="1298448" cy="2148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304288" y="1444752"/>
            <a:ext cx="420624" cy="420624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04288" y="1490472"/>
            <a:ext cx="4206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38528" y="2011680"/>
            <a:ext cx="11521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200" b="1">
                <a:solidFill>
                  <a:srgbClr val="1B4332"/>
                </a:solidFill>
                <a:latin typeface="Calibri"/>
              </a:defRPr>
            </a:pPr>
            <a:r>
              <a:t>Index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2377440"/>
            <a:ext cx="1188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0">
                <a:solidFill>
                  <a:srgbClr val="5C6F62"/>
                </a:solidFill>
                <a:latin typeface="Calibri"/>
              </a:defRPr>
            </a:pPr>
            <a:r>
              <a:t>candidates.jsonl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82112" y="1965960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2000" b="1">
                <a:solidFill>
                  <a:srgbClr val="40916C"/>
                </a:solidFill>
                <a:latin typeface="Calibri"/>
              </a:defRPr>
            </a:pPr>
            <a: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91840" y="1325880"/>
            <a:ext cx="1298448" cy="2148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730752" y="1444752"/>
            <a:ext cx="420624" cy="420624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30752" y="1490472"/>
            <a:ext cx="4206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64992" y="2011680"/>
            <a:ext cx="11521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200" b="1">
                <a:solidFill>
                  <a:srgbClr val="1B4332"/>
                </a:solidFill>
                <a:latin typeface="Calibri"/>
              </a:defRPr>
            </a:pPr>
            <a:r>
              <a:t>Embed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46704" y="2377440"/>
            <a:ext cx="1188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0">
                <a:solidFill>
                  <a:srgbClr val="5C6F62"/>
                </a:solidFill>
                <a:latin typeface="Calibri"/>
              </a:defRPr>
            </a:pPr>
            <a:r>
              <a:t>MiniLM .npz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08576" y="1965960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2000" b="1">
                <a:solidFill>
                  <a:srgbClr val="40916C"/>
                </a:solidFill>
                <a:latin typeface="Calibri"/>
              </a:defRPr>
            </a:pPr>
            <a: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18304" y="1325880"/>
            <a:ext cx="1298448" cy="2148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157216" y="1444752"/>
            <a:ext cx="420624" cy="420624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57216" y="1490472"/>
            <a:ext cx="4206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91456" y="2011680"/>
            <a:ext cx="11521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200" b="1">
                <a:solidFill>
                  <a:srgbClr val="1B4332"/>
                </a:solidFill>
                <a:latin typeface="Calibri"/>
              </a:defRPr>
            </a:pPr>
            <a:r>
              <a:t>Score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73168" y="2377440"/>
            <a:ext cx="1188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0">
                <a:solidFill>
                  <a:srgbClr val="5C6F62"/>
                </a:solidFill>
                <a:latin typeface="Calibri"/>
              </a:defRPr>
            </a:pPr>
            <a:r>
              <a:t>Hybrid v6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0" y="1965960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2000" b="1">
                <a:solidFill>
                  <a:srgbClr val="40916C"/>
                </a:solidFill>
                <a:latin typeface="Calibri"/>
              </a:defRPr>
            </a:pPr>
            <a:r>
              <a:t>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44768" y="1325880"/>
            <a:ext cx="1298448" cy="2148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583680" y="1444752"/>
            <a:ext cx="420624" cy="420624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1490472"/>
            <a:ext cx="4206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2011680"/>
            <a:ext cx="11521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200" b="1">
                <a:solidFill>
                  <a:srgbClr val="1B4332"/>
                </a:solidFill>
                <a:latin typeface="Calibri"/>
              </a:defRPr>
            </a:pPr>
            <a:r>
              <a:t>Rank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99632" y="2377440"/>
            <a:ext cx="1188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0">
                <a:solidFill>
                  <a:srgbClr val="5C6F62"/>
                </a:solidFill>
                <a:latin typeface="Calibri"/>
              </a:defRPr>
            </a:pPr>
            <a:r>
              <a:t>Top 100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61504" y="1965960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2000" b="1">
                <a:solidFill>
                  <a:srgbClr val="40916C"/>
                </a:solidFill>
                <a:latin typeface="Calibri"/>
              </a:defRPr>
            </a:pPr>
            <a:r>
              <a:t>›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571232" y="1325880"/>
            <a:ext cx="1298448" cy="2148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010144" y="1444752"/>
            <a:ext cx="420624" cy="420624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10144" y="1490472"/>
            <a:ext cx="4206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44384" y="2011680"/>
            <a:ext cx="11521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200" b="1">
                <a:solidFill>
                  <a:srgbClr val="1B4332"/>
                </a:solidFill>
                <a:latin typeface="Calibri"/>
              </a:defRPr>
            </a:pPr>
            <a:r>
              <a:t>Export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26096" y="2377440"/>
            <a:ext cx="1188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0">
                <a:solidFill>
                  <a:srgbClr val="5C6F62"/>
                </a:solidFill>
                <a:latin typeface="Calibri"/>
              </a:defRPr>
            </a:pPr>
            <a:r>
              <a:t>submission.csv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02920" y="3794760"/>
            <a:ext cx="8138160" cy="804672"/>
          </a:xfrm>
          <a:prstGeom prst="roundRect">
            <a:avLst/>
          </a:prstGeom>
          <a:solidFill>
            <a:srgbClr val="EDF7F0"/>
          </a:solidFill>
          <a:ln w="9525">
            <a:solidFill>
              <a:srgbClr val="74C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" y="3950208"/>
            <a:ext cx="7680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50" b="0">
                <a:solidFill>
                  <a:srgbClr val="1A2E22"/>
                </a:solidFill>
                <a:latin typeface="Calibri"/>
              </a:defRPr>
            </a:pPr>
            <a:r>
              <a:t>Reproduce: ./scripts/reproduce_ranking.sh  ·  Byte-verified via verify_submission_artifact.py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016" y="0"/>
            <a:ext cx="54864" cy="5143500"/>
          </a:xfrm>
          <a:prstGeom prst="rect">
            <a:avLst/>
          </a:prstGeom>
          <a:solidFill>
            <a:srgbClr val="B7E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828032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0">
                <a:solidFill>
                  <a:srgbClr val="B7E4C7"/>
                </a:solidFill>
                <a:latin typeface="Calibri"/>
              </a:defRPr>
            </a:pPr>
            <a:r>
              <a:t>Schadn  ·  Rahul Kumar Singh  ·  India Runs Data &amp; AI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4828032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00" b="0">
                <a:solidFill>
                  <a:srgbClr val="74C69D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92608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1">
                <a:solidFill>
                  <a:srgbClr val="40916C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5488"/>
            <a:ext cx="8046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800" b="1">
                <a:solidFill>
                  <a:srgbClr val="1B4332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932688"/>
            <a:ext cx="8046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>
                <a:solidFill>
                  <a:srgbClr val="5C6F62"/>
                </a:solidFill>
                <a:latin typeface="Calibri"/>
              </a:defRPr>
            </a:pPr>
            <a:r>
              <a:t>Graded submission path vs optional demo platform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170432"/>
            <a:ext cx="81381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298448"/>
            <a:ext cx="7680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40916C"/>
                </a:solidFill>
                <a:latin typeface="Calibri"/>
              </a:defRPr>
            </a:pPr>
            <a:r>
              <a:t>GRADED PATH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1664208"/>
            <a:ext cx="1234440" cy="475488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773936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rank.py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9384" y="1755648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400" b="0">
                <a:solidFill>
                  <a:srgbClr val="40916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39112" y="1664208"/>
            <a:ext cx="1234440" cy="475488"/>
          </a:xfrm>
          <a:prstGeom prst="round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39112" y="1773936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redrob_ranker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82696" y="1755648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400" b="0">
                <a:solidFill>
                  <a:srgbClr val="40916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92424" y="1664208"/>
            <a:ext cx="1234440" cy="475488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92424" y="1773936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features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36008" y="1755648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400" b="0">
                <a:solidFill>
                  <a:srgbClr val="40916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45736" y="1664208"/>
            <a:ext cx="1234440" cy="475488"/>
          </a:xfrm>
          <a:prstGeom prst="round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45736" y="1773936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embeddings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89320" y="1755648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400" b="0">
                <a:solidFill>
                  <a:srgbClr val="40916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99048" y="1664208"/>
            <a:ext cx="1234440" cy="475488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99048" y="1773936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honeypot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42631" y="1755648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400" b="0">
                <a:solidFill>
                  <a:srgbClr val="40916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52360" y="1664208"/>
            <a:ext cx="1234440" cy="475488"/>
          </a:xfrm>
          <a:prstGeom prst="round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52360" y="1773936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availability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2331720"/>
            <a:ext cx="7680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0">
                <a:solidFill>
                  <a:srgbClr val="5C6F62"/>
                </a:solidFill>
                <a:latin typeface="Calibri"/>
              </a:defRPr>
            </a:pPr>
            <a:r>
              <a:t>Input: candidates.jsonl + embeddings.fp16.npz  →  Output: submission.csv (100 rows)</a:t>
            </a:r>
            <a:br/>
            <a:r>
              <a:t>+ career_blurb.py · assessment.py · rerank.py (cross-encoder OFF)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3310128"/>
            <a:ext cx="8138160" cy="1325880"/>
          </a:xfrm>
          <a:prstGeom prst="roundRect">
            <a:avLst/>
          </a:prstGeom>
          <a:solidFill>
            <a:srgbClr val="EDF7F0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3438144"/>
            <a:ext cx="7680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40916C"/>
                </a:solidFill>
                <a:latin typeface="Calibri"/>
              </a:defRPr>
            </a:pPr>
            <a:r>
              <a:t>DEMO PATH (not graded)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3767328"/>
            <a:ext cx="7680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50" b="0">
                <a:solidFill>
                  <a:srgbClr val="1A2E22"/>
                </a:solidFill>
                <a:latin typeface="Calibri"/>
              </a:defRPr>
            </a:pPr>
            <a:r>
              <a:t>Next.js 14 frontend  →  FastAPI + LangGraph backend  →  dashboard, analytics, AI chat</a:t>
            </a:r>
            <a:br/>
            <a:r>
              <a:t>Imports top-100 from submission.csv — does not produce the graded artifact.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016" y="0"/>
            <a:ext cx="54864" cy="5143500"/>
          </a:xfrm>
          <a:prstGeom prst="rect">
            <a:avLst/>
          </a:prstGeom>
          <a:solidFill>
            <a:srgbClr val="B7E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828032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0">
                <a:solidFill>
                  <a:srgbClr val="B7E4C7"/>
                </a:solidFill>
                <a:latin typeface="Calibri"/>
              </a:defRPr>
            </a:pPr>
            <a:r>
              <a:t>Schadn  ·  Rahul Kumar Singh  ·  India Runs Data &amp; AI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4828032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00" b="0">
                <a:solidFill>
                  <a:srgbClr val="74C69D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92608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1">
                <a:solidFill>
                  <a:srgbClr val="40916C"/>
                </a:solidFill>
                <a:latin typeface="Calibri"/>
              </a:defRPr>
            </a:pPr>
            <a:r>
              <a:t>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5488"/>
            <a:ext cx="8046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800" b="1">
                <a:solidFill>
                  <a:srgbClr val="1B4332"/>
                </a:solidFill>
                <a:latin typeface="Calibri"/>
              </a:defRPr>
            </a:pPr>
            <a:r>
              <a:t>Results &amp; 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932688"/>
            <a:ext cx="8046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>
                <a:solidFill>
                  <a:srgbClr val="5C6F62"/>
                </a:solidFill>
                <a:latin typeface="Calibri"/>
              </a:defRPr>
            </a:pPr>
            <a:r>
              <a:t>Evidence-backed outcomes and spec compliance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170432"/>
            <a:ext cx="40233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280160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1">
                <a:solidFill>
                  <a:srgbClr val="1B4332"/>
                </a:solidFill>
                <a:latin typeface="Calibri"/>
              </a:defRPr>
            </a:pPr>
            <a:r>
              <a:t>Top-5 Finalists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1600200"/>
            <a:ext cx="3657600" cy="310896"/>
          </a:xfrm>
          <a:prstGeom prst="roundRect">
            <a:avLst/>
          </a:prstGeom>
          <a:solidFill>
            <a:srgbClr val="EDF7F0"/>
          </a:solidFill>
          <a:ln w="9525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1645920"/>
            <a:ext cx="365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2D6A4F"/>
                </a:solidFill>
                <a:latin typeface="Calibri"/>
              </a:defRPr>
            </a:pPr>
            <a:r>
              <a:t>#1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1645920"/>
            <a:ext cx="3063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0">
                <a:solidFill>
                  <a:srgbClr val="1A2E22"/>
                </a:solidFill>
                <a:latin typeface="Calibri"/>
              </a:defRPr>
            </a:pPr>
            <a:r>
              <a:t>CAND_0002025  ·  0.9900  ·  Sr AI Engineer @ Apple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1947672"/>
            <a:ext cx="3657600" cy="31089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1993391"/>
            <a:ext cx="365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2D6A4F"/>
                </a:solidFill>
                <a:latin typeface="Calibri"/>
              </a:defRPr>
            </a:pPr>
            <a:r>
              <a:t>#2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1993391"/>
            <a:ext cx="3063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0">
                <a:solidFill>
                  <a:srgbClr val="1A2E22"/>
                </a:solidFill>
                <a:latin typeface="Calibri"/>
              </a:defRPr>
            </a:pPr>
            <a:r>
              <a:t>CAND_0046064  ·  0.9324  ·  Sr NLP Engineer @ Salesforce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2295144"/>
            <a:ext cx="3657600" cy="310896"/>
          </a:xfrm>
          <a:prstGeom prst="roundRect">
            <a:avLst/>
          </a:prstGeom>
          <a:solidFill>
            <a:srgbClr val="EDF7F0"/>
          </a:solidFill>
          <a:ln w="9525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340863"/>
            <a:ext cx="365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2D6A4F"/>
                </a:solidFill>
                <a:latin typeface="Calibri"/>
              </a:defRPr>
            </a:pPr>
            <a: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2340863"/>
            <a:ext cx="3063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0">
                <a:solidFill>
                  <a:srgbClr val="1A2E22"/>
                </a:solidFill>
                <a:latin typeface="Calibri"/>
              </a:defRPr>
            </a:pPr>
            <a:r>
              <a:t>CAND_0010685  ·  0.8659  ·  NLP Engineer @ Rephrase.ai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2642615"/>
            <a:ext cx="3657600" cy="31089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2688335"/>
            <a:ext cx="365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2D6A4F"/>
                </a:solidFill>
                <a:latin typeface="Calibri"/>
              </a:defRPr>
            </a:pPr>
            <a:r>
              <a:t>#4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2688335"/>
            <a:ext cx="3063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0">
                <a:solidFill>
                  <a:srgbClr val="1A2E22"/>
                </a:solidFill>
                <a:latin typeface="Calibri"/>
              </a:defRPr>
            </a:pPr>
            <a:r>
              <a:t>CAND_0055905  ·  0.8510  ·  Sr ML Engineer @ Flipkart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2990087"/>
            <a:ext cx="3657600" cy="310896"/>
          </a:xfrm>
          <a:prstGeom prst="roundRect">
            <a:avLst/>
          </a:prstGeom>
          <a:solidFill>
            <a:srgbClr val="EDF7F0"/>
          </a:solidFill>
          <a:ln w="9525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3035807"/>
            <a:ext cx="365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2D6A4F"/>
                </a:solidFill>
                <a:latin typeface="Calibri"/>
              </a:defRPr>
            </a:pPr>
            <a:r>
              <a:t>#5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3035807"/>
            <a:ext cx="3063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0">
                <a:solidFill>
                  <a:srgbClr val="1A2E22"/>
                </a:solidFill>
                <a:latin typeface="Calibri"/>
              </a:defRPr>
            </a:pPr>
            <a:r>
              <a:t>CAND_0018499  ·  0.8041  ·  Sr ML Engineer @ Zomato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1170432"/>
            <a:ext cx="3977639" cy="2331720"/>
          </a:xfrm>
          <a:prstGeom prst="roundRect">
            <a:avLst/>
          </a:prstGeom>
          <a:solidFill>
            <a:srgbClr val="EDF7F0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46320" y="1280160"/>
            <a:ext cx="3611880" cy="2103120"/>
          </a:xfrm>
          <a:prstGeom prst="rect">
            <a:avLst/>
          </a:prstGeom>
          <a:noFill/>
        </p:spPr>
        <p:txBody>
          <a:bodyPr wrap="square" lIns="2540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B4332"/>
                </a:solidFill>
                <a:latin typeface="Calibri"/>
              </a:defRPr>
            </a:pPr>
            <a:r>
              <a:t>Validation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050">
                <a:solidFill>
                  <a:srgbClr val="1A2E22"/>
                </a:solidFill>
                <a:latin typeface="Calibri"/>
              </a:defRPr>
            </a:pPr>
            <a:r>
              <a:t>100 rows · unique ranks · monotonic scores · 0 honeypots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050">
                <a:solidFill>
                  <a:srgbClr val="1A2E22"/>
                </a:solidFill>
                <a:latin typeface="Calibri"/>
              </a:defRPr>
            </a:pPr>
            <a:r>
              <a:t>All IDs verified in official candidates.jsonl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050">
                <a:solidFill>
                  <a:srgbClr val="1A2E22"/>
                </a:solidFill>
                <a:latin typeface="Calibri"/>
              </a:defRPr>
            </a:pPr>
            <a:r>
              <a:t>Byte-reproducible artifact: PASS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050">
                <a:solidFill>
                  <a:srgbClr val="1A2E22"/>
                </a:solidFill>
                <a:latin typeface="Calibri"/>
              </a:defRPr>
            </a:pPr>
            <a:r>
              <a:t>Reasoning: 100% unique · Stage 4: 10/10 pass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3703320"/>
            <a:ext cx="233172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4C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3703320"/>
            <a:ext cx="2331720" cy="54864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" y="3831336"/>
            <a:ext cx="2011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600" b="1">
                <a:solidFill>
                  <a:srgbClr val="1B4332"/>
                </a:solidFill>
                <a:latin typeface="Calibri"/>
              </a:defRPr>
            </a:pPr>
            <a:r>
              <a:t>~49–60s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" y="4233672"/>
            <a:ext cx="20116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5C6F62"/>
                </a:solidFill>
                <a:latin typeface="Calibri"/>
              </a:defRPr>
            </a:pPr>
            <a:r>
              <a:t>Runtime on 100K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" y="4416552"/>
            <a:ext cx="20116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0">
                <a:solidFill>
                  <a:srgbClr val="40916C"/>
                </a:solidFill>
                <a:latin typeface="Calibri"/>
              </a:defRPr>
            </a:pPr>
            <a:r>
              <a:t>≪ 5 min limit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971800" y="3703320"/>
            <a:ext cx="233172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4C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971800" y="3703320"/>
            <a:ext cx="2331720" cy="54864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136392" y="3831336"/>
            <a:ext cx="2011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600" b="1">
                <a:solidFill>
                  <a:srgbClr val="1B4332"/>
                </a:solidFill>
                <a:latin typeface="Calibri"/>
              </a:defRPr>
            </a:pPr>
            <a:r>
              <a:t>CPU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36392" y="4233672"/>
            <a:ext cx="20116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5C6F62"/>
                </a:solidFill>
                <a:latin typeface="Calibri"/>
              </a:defRPr>
            </a:pPr>
            <a:r>
              <a:t>No GPU · No network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36392" y="4416552"/>
            <a:ext cx="20116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0">
                <a:solidFill>
                  <a:srgbClr val="40916C"/>
                </a:solidFill>
                <a:latin typeface="Calibri"/>
              </a:defRPr>
            </a:pPr>
            <a:r>
              <a:t>Spec compliant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40680" y="3703320"/>
            <a:ext cx="233172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4C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40680" y="3703320"/>
            <a:ext cx="2331720" cy="54864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05272" y="3831336"/>
            <a:ext cx="2011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600" b="1">
                <a:solidFill>
                  <a:srgbClr val="1B4332"/>
                </a:solidFill>
                <a:latin typeface="Calibri"/>
              </a:defRPr>
            </a:pPr>
            <a:r>
              <a:t>16 GB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05272" y="4233672"/>
            <a:ext cx="20116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5C6F62"/>
                </a:solidFill>
                <a:latin typeface="Calibri"/>
              </a:defRPr>
            </a:pPr>
            <a:r>
              <a:t>RAM envelope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05272" y="4416552"/>
            <a:ext cx="20116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0">
                <a:solidFill>
                  <a:srgbClr val="40916C"/>
                </a:solidFill>
                <a:latin typeface="Calibri"/>
              </a:defRPr>
            </a:pPr>
            <a:r>
              <a:t>~68MB embeddings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016" y="0"/>
            <a:ext cx="54864" cy="5143500"/>
          </a:xfrm>
          <a:prstGeom prst="rect">
            <a:avLst/>
          </a:prstGeom>
          <a:solidFill>
            <a:srgbClr val="B7E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828032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0">
                <a:solidFill>
                  <a:srgbClr val="B7E4C7"/>
                </a:solidFill>
                <a:latin typeface="Calibri"/>
              </a:defRPr>
            </a:pPr>
            <a:r>
              <a:t>Schadn  ·  Rahul Kumar Singh  ·  India Runs Data &amp; AI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4828032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00" b="0">
                <a:solidFill>
                  <a:srgbClr val="74C69D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92608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1">
                <a:solidFill>
                  <a:srgbClr val="40916C"/>
                </a:solidFill>
                <a:latin typeface="Calibri"/>
              </a:defRPr>
            </a:pPr>
            <a:r>
              <a:t>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5488"/>
            <a:ext cx="8046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800" b="1">
                <a:solidFill>
                  <a:srgbClr val="1B4332"/>
                </a:solidFill>
                <a:latin typeface="Calibri"/>
              </a:defRPr>
            </a:pPr>
            <a:r>
              <a:t>Technologies Used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932688"/>
            <a:ext cx="8046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>
                <a:solidFill>
                  <a:srgbClr val="5C6F62"/>
                </a:solidFill>
                <a:latin typeface="Calibri"/>
              </a:defRPr>
            </a:pPr>
            <a:r>
              <a:t>Deliberate stack choices for reproducibility and scale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170432"/>
            <a:ext cx="4023360" cy="3493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280160"/>
            <a:ext cx="3657600" cy="3246120"/>
          </a:xfrm>
          <a:prstGeom prst="rect">
            <a:avLst/>
          </a:prstGeom>
          <a:noFill/>
        </p:spPr>
        <p:txBody>
          <a:bodyPr wrap="square" lIns="2540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B4332"/>
                </a:solidFill>
                <a:latin typeface="Calibri"/>
              </a:defRPr>
            </a:pPr>
            <a:r>
              <a:t>Submission Ranker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050">
                <a:solidFill>
                  <a:srgbClr val="1A2E22"/>
                </a:solidFill>
                <a:latin typeface="Calibri"/>
              </a:defRPr>
            </a:pPr>
            <a:r>
              <a:t>Python 3.11 · NumPy · PyYAML — no torch at rank time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050">
                <a:solidFill>
                  <a:srgbClr val="1A2E22"/>
                </a:solidFill>
                <a:latin typeface="Calibri"/>
              </a:defRPr>
            </a:pPr>
            <a:r>
              <a:t>all-MiniLM-L6-v2 — committed embeddings.fp16.npz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050">
                <a:solidFill>
                  <a:srgbClr val="1A2E22"/>
                </a:solidFill>
                <a:latin typeface="Calibri"/>
              </a:defRPr>
            </a:pPr>
            <a:r>
              <a:t>Docker: docker-compose.ranker.yml for Stage 3 reproduction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050">
                <a:solidFill>
                  <a:srgbClr val="1A2E22"/>
                </a:solidFill>
                <a:latin typeface="Calibri"/>
              </a:defRPr>
            </a:pPr>
            <a:r>
              <a:t>pytest: 31 tests passing in challenge/test_ranker.py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050">
                <a:solidFill>
                  <a:srgbClr val="1A2E22"/>
                </a:solidFill>
                <a:latin typeface="Calibri"/>
              </a:defRPr>
            </a:pPr>
            <a:r>
              <a:t>AI tools: Cursor + Grok (dev only — no candidate data to LLMs)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1170432"/>
            <a:ext cx="3977639" cy="3493008"/>
          </a:xfrm>
          <a:prstGeom prst="roundRect">
            <a:avLst/>
          </a:prstGeom>
          <a:solidFill>
            <a:srgbClr val="EDF7F0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1280160"/>
            <a:ext cx="3611880" cy="3246120"/>
          </a:xfrm>
          <a:prstGeom prst="rect">
            <a:avLst/>
          </a:prstGeom>
          <a:noFill/>
        </p:spPr>
        <p:txBody>
          <a:bodyPr wrap="square" lIns="2540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B4332"/>
                </a:solidFill>
                <a:latin typeface="Calibri"/>
              </a:defRPr>
            </a:pPr>
            <a:r>
              <a:t>Demo Platform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050">
                <a:solidFill>
                  <a:srgbClr val="1A2E22"/>
                </a:solidFill>
                <a:latin typeface="Calibri"/>
              </a:defRPr>
            </a:pPr>
            <a:r>
              <a:t>Next.js 14 + Tailwind — recruiter command center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050">
                <a:solidFill>
                  <a:srgbClr val="1A2E22"/>
                </a:solidFill>
                <a:latin typeface="Calibri"/>
              </a:defRPr>
            </a:pPr>
            <a:r>
              <a:t>FastAPI + LangGraph — 7-agent explainability pipeline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050">
                <a:solidFill>
                  <a:srgbClr val="1A2E22"/>
                </a:solidFill>
                <a:latin typeface="Calibri"/>
              </a:defRPr>
            </a:pPr>
            <a:r>
              <a:t>PostgreSQL / SQLite — workspace + top-100 import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050">
                <a:solidFill>
                  <a:srgbClr val="1A2E22"/>
                </a:solidFill>
                <a:latin typeface="Calibri"/>
              </a:defRPr>
            </a:pPr>
            <a:r>
              <a:t>HuggingFace Spaces — sample ranking sandbox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050">
                <a:solidFill>
                  <a:srgbClr val="1A2E22"/>
                </a:solidFill>
                <a:latin typeface="Calibri"/>
              </a:defRPr>
            </a:pPr>
            <a:r>
              <a:t>Vercel + Render — recruitgpt-x.vercel.app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016" y="0"/>
            <a:ext cx="54864" cy="5143500"/>
          </a:xfrm>
          <a:prstGeom prst="rect">
            <a:avLst/>
          </a:prstGeom>
          <a:solidFill>
            <a:srgbClr val="B7E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828032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0">
                <a:solidFill>
                  <a:srgbClr val="B7E4C7"/>
                </a:solidFill>
                <a:latin typeface="Calibri"/>
              </a:defRPr>
            </a:pPr>
            <a:r>
              <a:t>Schadn  ·  Rahul Kumar Singh  ·  India Runs Data &amp; AI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4828032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00" b="0">
                <a:solidFill>
                  <a:srgbClr val="74C69D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92608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1">
                <a:solidFill>
                  <a:srgbClr val="40916C"/>
                </a:solidFill>
                <a:latin typeface="Calibri"/>
              </a:defRPr>
            </a:pPr>
            <a:r>
              <a:t>ASSETS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5488"/>
            <a:ext cx="8046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800" b="1">
                <a:solidFill>
                  <a:srgbClr val="1B4332"/>
                </a:solidFill>
                <a:latin typeface="Calibri"/>
              </a:defRPr>
            </a:pPr>
            <a:r>
              <a:t>Submission Assets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932688"/>
            <a:ext cx="8046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>
                <a:solidFill>
                  <a:srgbClr val="5C6F62"/>
                </a:solidFill>
                <a:latin typeface="Calibri"/>
              </a:defRPr>
            </a:pPr>
            <a:r>
              <a:t>Complete reproducibility package for judges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188720"/>
            <a:ext cx="8138160" cy="5303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188720"/>
            <a:ext cx="73152" cy="5303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1252728"/>
            <a:ext cx="1417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1B4332"/>
                </a:solidFill>
                <a:latin typeface="Calibri"/>
              </a:defRPr>
            </a:pPr>
            <a:r>
              <a:t>GitHub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1252728"/>
            <a:ext cx="4389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0">
                <a:solidFill>
                  <a:srgbClr val="2D6A4F"/>
                </a:solidFill>
                <a:latin typeface="Calibri"/>
              </a:defRPr>
            </a:pPr>
            <a:r>
              <a:t>github.com/rahulx2001/recruitgpt-x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1463040"/>
            <a:ext cx="7680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0">
                <a:solidFill>
                  <a:srgbClr val="5C6F62"/>
                </a:solidFill>
                <a:latin typeface="Calibri"/>
              </a:defRPr>
            </a:pPr>
            <a:r>
              <a:t>rank.py + challenge/ + bundle validators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1764792"/>
            <a:ext cx="8138160" cy="530352"/>
          </a:xfrm>
          <a:prstGeom prst="roundRect">
            <a:avLst/>
          </a:prstGeom>
          <a:solidFill>
            <a:srgbClr val="EDF7F0"/>
          </a:solidFill>
          <a:ln w="9525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1764792"/>
            <a:ext cx="73152" cy="530352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1828800"/>
            <a:ext cx="1417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1B4332"/>
                </a:solidFill>
                <a:latin typeface="Calibri"/>
              </a:defRPr>
            </a:pPr>
            <a:r>
              <a:t>Ranked CSV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1828800"/>
            <a:ext cx="4389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0">
                <a:solidFill>
                  <a:srgbClr val="2D6A4F"/>
                </a:solidFill>
                <a:latin typeface="Calibri"/>
              </a:defRPr>
            </a:pPr>
            <a:r>
              <a:t>submission.csv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2039112"/>
            <a:ext cx="7680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0">
                <a:solidFill>
                  <a:srgbClr val="5C6F62"/>
                </a:solidFill>
                <a:latin typeface="Calibri"/>
              </a:defRPr>
            </a:pPr>
            <a:r>
              <a:t>submission_spec v4 · UTF-8 · 100 rows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2340864"/>
            <a:ext cx="8138160" cy="5303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2340864"/>
            <a:ext cx="73152" cy="5303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2404872"/>
            <a:ext cx="1417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1B4332"/>
                </a:solidFill>
                <a:latin typeface="Calibri"/>
              </a:defRPr>
            </a:pPr>
            <a:r>
              <a:t>HF Sandbox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48840" y="2404872"/>
            <a:ext cx="4389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0">
                <a:solidFill>
                  <a:srgbClr val="2D6A4F"/>
                </a:solidFill>
                <a:latin typeface="Calibri"/>
              </a:defRPr>
            </a:pPr>
            <a:r>
              <a:t>huggingface.co/.../recruitgpt-ranker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2615184"/>
            <a:ext cx="7680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0">
                <a:solidFill>
                  <a:srgbClr val="5C6F62"/>
                </a:solidFill>
                <a:latin typeface="Calibri"/>
              </a:defRPr>
            </a:pPr>
            <a:r>
              <a:t>§10.5 sample_candidates.json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2916936"/>
            <a:ext cx="8138160" cy="530352"/>
          </a:xfrm>
          <a:prstGeom prst="roundRect">
            <a:avLst/>
          </a:prstGeom>
          <a:solidFill>
            <a:srgbClr val="EDF7F0"/>
          </a:solidFill>
          <a:ln w="9525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2916936"/>
            <a:ext cx="73152" cy="530352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2980944"/>
            <a:ext cx="1417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1B4332"/>
                </a:solidFill>
                <a:latin typeface="Calibri"/>
              </a:defRPr>
            </a:pPr>
            <a:r>
              <a:t>Official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48840" y="2980944"/>
            <a:ext cx="4389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0">
                <a:solidFill>
                  <a:srgbClr val="2D6A4F"/>
                </a:solidFill>
                <a:latin typeface="Calibri"/>
              </a:defRPr>
            </a:pPr>
            <a:r>
              <a:t>candidates.jsonl + job_description.docx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3191256"/>
            <a:ext cx="7680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0">
                <a:solidFill>
                  <a:srgbClr val="5C6F62"/>
                </a:solidFill>
                <a:latin typeface="Calibri"/>
              </a:defRPr>
            </a:pPr>
            <a:r>
              <a:t>sync_challenge_data.sh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3493008"/>
            <a:ext cx="8138160" cy="5303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" y="3493008"/>
            <a:ext cx="73152" cy="5303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" y="3557015"/>
            <a:ext cx="1417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1B4332"/>
                </a:solidFill>
                <a:latin typeface="Calibri"/>
              </a:defRPr>
            </a:pPr>
            <a:r>
              <a:t>Reproduce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48840" y="3557015"/>
            <a:ext cx="4389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0">
                <a:solidFill>
                  <a:srgbClr val="2D6A4F"/>
                </a:solidFill>
                <a:latin typeface="Calibri"/>
              </a:defRPr>
            </a:pPr>
            <a:r>
              <a:t>./scripts/reproduce_ranking.sh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" y="3767328"/>
            <a:ext cx="7680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0">
                <a:solidFill>
                  <a:srgbClr val="5C6F62"/>
                </a:solidFill>
                <a:latin typeface="Calibri"/>
              </a:defRPr>
            </a:pPr>
            <a:r>
              <a:t>CPU ≤5min · byte-verified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4069080"/>
            <a:ext cx="8138160" cy="530352"/>
          </a:xfrm>
          <a:prstGeom prst="roundRect">
            <a:avLst/>
          </a:prstGeom>
          <a:solidFill>
            <a:srgbClr val="EDF7F0"/>
          </a:solidFill>
          <a:ln w="9525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2920" y="4069080"/>
            <a:ext cx="73152" cy="530352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3232" y="4133088"/>
            <a:ext cx="1417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1B4332"/>
                </a:solidFill>
                <a:latin typeface="Calibri"/>
              </a:defRPr>
            </a:pPr>
            <a:r>
              <a:t>Metadata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48840" y="4133088"/>
            <a:ext cx="4389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0">
                <a:solidFill>
                  <a:srgbClr val="2D6A4F"/>
                </a:solidFill>
                <a:latin typeface="Calibri"/>
              </a:defRPr>
            </a:pPr>
            <a:r>
              <a:t>submission_metadata.yaml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" y="4343400"/>
            <a:ext cx="7680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0">
                <a:solidFill>
                  <a:srgbClr val="5C6F62"/>
                </a:solidFill>
                <a:latin typeface="Calibri"/>
              </a:defRPr>
            </a:pPr>
            <a:r>
              <a:t>Team Schadn · Rahul Kumar Singh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B7E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48640" y="3840480"/>
            <a:ext cx="2194560" cy="2194560"/>
          </a:xfrm>
          <a:prstGeom prst="ellipse">
            <a:avLst/>
          </a:prstGeom>
          <a:solidFill>
            <a:srgbClr val="ED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749807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4200" b="1">
                <a:solidFill>
                  <a:srgbClr val="1B4332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749807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800" b="0">
                <a:solidFill>
                  <a:srgbClr val="2D6A4F"/>
                </a:solidFill>
                <a:latin typeface="Calibri"/>
              </a:defRPr>
            </a:pPr>
            <a:r>
              <a:t>Schadn  ·  Rahul Kumar Singh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34640"/>
            <a:ext cx="749807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300" b="0">
                <a:solidFill>
                  <a:srgbClr val="5C6F62"/>
                </a:solidFill>
                <a:latin typeface="Calibri"/>
              </a:defRPr>
            </a:pPr>
            <a:r>
              <a:t>Ranking candidates like a great recruiter — not a keyword filter.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3520440"/>
            <a:ext cx="347472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74C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3657600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100" b="1">
                <a:solidFill>
                  <a:srgbClr val="1B4332"/>
                </a:solidFill>
                <a:latin typeface="Calibri"/>
              </a:defRPr>
            </a:pPr>
            <a:r>
              <a:t>github.com/rahulx2001/recruitgpt-x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