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9144000" cy="9829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02C39A"/>
                </a:solidFill>
              </a:defRPr>
            </a:pPr>
            <a:r>
              <a:t>INDIA RUNS · DATA &amp;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Intelligent Candidate Discovery</a:t>
            </a:r>
            <a:br/>
            <a:r>
              <a:t>&amp;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</a:defRPr>
            </a:pPr>
            <a:r>
              <a:t>Hybrid offline ranker — semantic fit, trap-aware, production-scale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63240"/>
            <a:ext cx="7863840" cy="868680"/>
          </a:xfrm>
          <a:prstGeom prst="rect">
            <a:avLst/>
          </a:prstGeom>
          <a:solidFill>
            <a:srgbClr val="04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Team Name</a:t>
            </a:r>
            <a:br/>
            <a:r>
              <a:t>Schadn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200400"/>
            <a:ext cx="4389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Team Leader</a:t>
            </a:r>
            <a:br/>
            <a:r>
              <a:t>Rahul Kumar Singh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7863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Problem Statement: Build an AI system that ranks 100K candidates the way a recruiter would —</a:t>
            </a:r>
            <a:br/>
            <a:r>
              <a:t>understanding role fit from career context, skills, and behavioral signals, not keyword matching.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What we built and why it beats keyword 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3749039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Proposed Solution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RecruitGPT X offline ranker: scores 100,000 candidates on CPU in ~49–60 seconds.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Acts as an AI recruiter — reads title, career narrative, IR skills, availability, and engagement.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Outputs a top-100 shortlist with calibrated scores and 2-sentence grounded reasoning per row.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Pre-computed MiniLM bi-encoder + hybrid heuristics — no LLM calls at rank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77639" cy="3749039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18872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Differentiation vs Traditional ATS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Keyword ATS: string match → misses semantic fit, ranks honeypot profiles high.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Our ranker: career semantics + structural honeypot traps + template-blurb dedup.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Availability gate: not open-to-work cannot reach top-10.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Explainable: every rank cites real profile facts — no hallucinated employers or skills.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Production constraint: CPU-only, offline — scales to 200K+ without per-candidate API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JD Understanding &amp; Candidate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Parsed from job_description.docx → jd_config.py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Key JD Requirements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Role: Senior AI Engineer — retrieval, ranking, embeddings, vector DBs in production.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Experience: 5–9 years ideal; penalize thin tenure and over-senior outliers.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Location: India-based; Pune/Noida preferred in scoring.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Production language: shipped systems, not research-only or framework demos.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Behavioral modifier from redrob_signals_doc: response rate, recruiter saves, engagement.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Candidate Signals We Evaluate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Title alignment: Rec Sys Engineer, Search Engineer, Senior ML/NLP Engineer.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Core IR skills: FAISS, Pinecone, Elasticsearch, OpenSearch, Weaviate, retrieval pipelines.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Career semantic text: production stories in role descriptions (not keyword stuffing).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Skill trust: endorsements, months-used, verified badges — noise skills penalized.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Availability: open_to_work, notice period (≤30d boosted, 90–120d penalized).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Engagement: profile views, recruiter saves, interview completion rate.</a:t>
            </a:r>
          </a:p>
          <a:p>
            <a:pPr>
              <a:spcAft>
                <a:spcPts val="600"/>
              </a:spcAft>
              <a:defRPr sz="1300">
                <a:solidFill>
                  <a:srgbClr val="212121"/>
                </a:solidFill>
              </a:defRPr>
            </a:pPr>
            <a:r>
              <a:t>Trap signals: weak title + inflated AI skills, impossible tenure, recycled blurbs.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Ranking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Hybrid v6 scorer — retrieve, score, rank, explain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Pipeline Steps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1. Load candidates.jsonl → build CandidateIndex (title, skills, career, signals).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2. Score each candidate with weighted hybrid components + modifiers.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3. Apply honeypot penalty, availability gate, notice modifier, blurb dedup.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4. Calibrate raw scores → sort descending → assign ranks 1–100.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5. Generate grounded 2-sentence reasoning from score components (no LLM).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926080"/>
            <a:ext cx="4023360" cy="1828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5A82"/>
                </a:solidFill>
              </a:defRPr>
            </a:pPr>
            <a:r>
              <a:t>Models &amp; Algorithms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Bi-encoder: all-MiniLM-L6-v2 (committed embeddings.fp16.npz, 100K vectors).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TF-IDF JD overlap for lexical alignment with parsed JD.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Heuristic modifiers: consulting penalty, research-only cap, FAANG-current note.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Cross-encoder: OFF (RANKER_USE_CROSS_ENCODER=0) for reproducibility.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3977639" cy="3749039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65A82"/>
                </a:solidFill>
              </a:defRPr>
            </a:pPr>
            <a:r>
              <a:t>v6 Signal Weights (DEFAULT_WEIGHTS)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508760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Title 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508760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1691639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92040" y="1691639"/>
            <a:ext cx="34290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837943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Core IR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837943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18%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2020824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2020824"/>
            <a:ext cx="30861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167127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Career 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67127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14%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2350008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2350008"/>
            <a:ext cx="24003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2496311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Production pedigree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496311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12%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92040" y="2679191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92040" y="2679191"/>
            <a:ext cx="2057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92040" y="2825495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Availability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825495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12%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92040" y="3008375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92040" y="3008375"/>
            <a:ext cx="2057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3154679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Redrob assessments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154679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40" y="3337559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92040" y="3337559"/>
            <a:ext cx="13716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92040" y="3483863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JD TF-IDF overlap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3483863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92040" y="3666743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92040" y="3666743"/>
            <a:ext cx="10287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92040" y="3813047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Experience band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3813047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92040" y="3995927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92040" y="3995927"/>
            <a:ext cx="85725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4142231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Engagement signals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4142231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92040" y="4325112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92040" y="4325112"/>
            <a:ext cx="85725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92040" y="4471416"/>
            <a:ext cx="25603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Location fit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471416"/>
            <a:ext cx="822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028090"/>
                </a:solidFill>
              </a:defRPr>
            </a:pPr>
            <a:r>
              <a:t>3%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92040" y="4654296"/>
            <a:ext cx="3429000" cy="54864"/>
          </a:xfrm>
          <a:prstGeom prst="rect">
            <a:avLst/>
          </a:prstGeom>
          <a:solidFill>
            <a:srgbClr val="D0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892040" y="4654296"/>
            <a:ext cx="51435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Explainability &amp; Data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Grounded reasoning + trap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How Rankings Are Explained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reasoning column: 2 sentences per candidate in submission.csv.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Sentence 1: specific facts — title, employer, years, location, named IR skills.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Sentence 2: JD connection + honest concerns (notice period, thin IR depth, big-tech risk).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Built from score components — never from an LLM → no hallucinated skills or employers.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Stage 4 mock review: 10/10 sampled rows pass all 6 quality checks.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100% unique reasoning strings; no empty or copy-paste templates.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051560"/>
            <a:ext cx="39776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Handling Bad or Suspicious Profiles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Structural honeypots: impossible tenure vs company founding date, expert skills at 0 months.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Title-skill mismatch: HR Manager / Accountant with inflated AI skill lists → heavy demotion.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Template-blurb penalty: recycled career descriptions shared across thousands of profiles.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Noise skills penalized: HTML, Tailwind, generic frameworks without IR depth.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Availability hard gate: open_to_work=false capped out of top-10.</a:t>
            </a:r>
          </a:p>
          <a:p>
            <a:pPr>
              <a:spcAft>
                <a:spcPts val="600"/>
              </a:spcAft>
              <a:defRPr sz="1200">
                <a:solidFill>
                  <a:srgbClr val="212121"/>
                </a:solidFill>
              </a:defRPr>
            </a:pPr>
            <a:r>
              <a:t>Result: 0 structural honeypots in our top-100 submission (0% vs 10% disqualify threshold).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End-to-End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JD input → ranked CSV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1325880" cy="23774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132588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98448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1143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65A82"/>
                </a:solidFill>
              </a:defRPr>
            </a:pPr>
            <a:r>
              <a:t>JD Parse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240280"/>
            <a:ext cx="1188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job_description.docx</a:t>
            </a:r>
            <a:br/>
            <a:r>
              <a:t>→ jd_config.py + jd_embedding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148840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28090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56232" y="1234440"/>
            <a:ext cx="1325880" cy="23774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56232" y="1234440"/>
            <a:ext cx="132588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2" y="1298448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7672" y="1828800"/>
            <a:ext cx="1143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65A82"/>
                </a:solidFill>
              </a:defRPr>
            </a:pPr>
            <a:r>
              <a:t>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9384" y="2240280"/>
            <a:ext cx="1188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candidates.jsonl (100K)</a:t>
            </a:r>
            <a:br/>
            <a:r>
              <a:t>→ CandidateIndex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9544" y="2148840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28090"/>
                </a:solidFill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0984" y="1234440"/>
            <a:ext cx="1325880" cy="23774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00984" y="1234440"/>
            <a:ext cx="132588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0984" y="1298448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1828800"/>
            <a:ext cx="1143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65A82"/>
                </a:solidFill>
              </a:defRPr>
            </a:pPr>
            <a:r>
              <a:t>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2240280"/>
            <a:ext cx="1188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Precomputed MiniLM</a:t>
            </a:r>
            <a:br/>
            <a:r>
              <a:t>embeddings.fp16.npz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2148840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28090"/>
                </a:solidFill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45736" y="1234440"/>
            <a:ext cx="1325880" cy="23774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45736" y="1234440"/>
            <a:ext cx="132588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45736" y="1298448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37176" y="1828800"/>
            <a:ext cx="1143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65A82"/>
                </a:solidFill>
              </a:defRPr>
            </a:pPr>
            <a:r>
              <a:t>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8888" y="2240280"/>
            <a:ext cx="1188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Hybrid v6 + modifiers</a:t>
            </a:r>
            <a:br/>
            <a:r>
              <a:t>per candidate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9048" y="2148840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28090"/>
                </a:solidFill>
              </a:defRPr>
            </a:pPr>
            <a: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1234440"/>
            <a:ext cx="1325880" cy="23774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0488" y="1234440"/>
            <a:ext cx="132588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0488" y="1298448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1928" y="1828800"/>
            <a:ext cx="1143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65A82"/>
                </a:solidFill>
              </a:defRPr>
            </a:pPr>
            <a:r>
              <a:t>Rank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240280"/>
            <a:ext cx="1188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Sort + tie-break</a:t>
            </a:r>
            <a:br/>
            <a:r>
              <a:t>(candidate_id asc)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148840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28090"/>
                </a:solidFill>
              </a:defRPr>
            </a:pPr>
            <a: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5240" y="1234440"/>
            <a:ext cx="1325880" cy="23774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35240" y="1234440"/>
            <a:ext cx="132588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1298448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Step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80" y="1828800"/>
            <a:ext cx="1143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65A82"/>
                </a:solidFill>
              </a:defRPr>
            </a:pPr>
            <a:r>
              <a:t>Export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08392" y="2240280"/>
            <a:ext cx="1188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submission.csv</a:t>
            </a:r>
            <a:br/>
            <a:r>
              <a:t>top-100 + reasoning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77639"/>
            <a:ext cx="8138160" cy="77724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11480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Reproduce: ./scripts/reproduce_ranking.sh  ·  python rank.py --candidates ./data/candidates.jsonl --out ./submission.csv</a:t>
            </a:r>
            <a:br/>
            <a:r>
              <a:t>Byte-verified: scripts/verify_submission_artifact.py confirms submission.csv matches fresh rank.py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Submission ranker (graded) vs demo platform (optional)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8138160" cy="214884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65A82"/>
                </a:solidFill>
              </a:defRPr>
            </a:pPr>
            <a:r>
              <a:t>GRADED PATH — produces submission.csv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105156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51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rank.py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600200"/>
            <a:ext cx="105156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691640"/>
            <a:ext cx="1051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redrob_ranker.py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600200"/>
            <a:ext cx="105156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91640"/>
            <a:ext cx="1051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features.py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600200"/>
            <a:ext cx="105156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691640"/>
            <a:ext cx="1051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embeddings.py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600200"/>
            <a:ext cx="105156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691640"/>
            <a:ext cx="1051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honeypot.py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1600200"/>
            <a:ext cx="105156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691640"/>
            <a:ext cx="1051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availability.py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0280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</a:defRPr>
            </a:pPr>
            <a:r>
              <a:t>+ career_blurb.py (template dedup)  ·  assessment.py (IR skill tests)  ·  rerank.py (CE off)</a:t>
            </a:r>
            <a:br/>
            <a:r>
              <a:t>Input: candidates.jsonl + embeddings.fp16.npz  →  Output: submission.csv (100 rows)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83280"/>
            <a:ext cx="8138160" cy="141732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65A82"/>
                </a:solidFill>
              </a:defRPr>
            </a:pPr>
            <a:r>
              <a:t>DEMO PATH — recruiter UI (not graded)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840480"/>
            <a:ext cx="7772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</a:defRPr>
            </a:pPr>
            <a:r>
              <a:t>frontend/ (Next.js 14)  →  backend/ (FastAPI + LangGraph 7-agent pipeline)  →  explainability, chat, analytics</a:t>
            </a:r>
            <a:br/>
            <a:r>
              <a:t>Uses top-100 import from submission.csv for dashboard — does NOT produce the graded artifact.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Results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Top picks, validation, compute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4114800" cy="2286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65A82"/>
                </a:solidFill>
              </a:defRPr>
            </a:pPr>
            <a:r>
              <a:t>Top-5 Ranked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28090"/>
                </a:solidFill>
              </a:defRPr>
            </a:pPr>
            <a:r>
              <a:t>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63040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CAND_0002025  ·  0.9900  ·  Senior AI Engineer @ Apple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1051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28090"/>
                </a:solidFill>
              </a:defRPr>
            </a:pPr>
            <a:r>
              <a:t>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810512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CAND_0046064  ·  0.9324  ·  Senior NLP Engineer @ Salesforce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57984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28090"/>
                </a:solidFill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57984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CAND_0010685  ·  0.8659  ·  NLP Engineer @ Rephrase.ai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05456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28090"/>
                </a:solidFill>
              </a:defRPr>
            </a:pPr>
            <a:r>
              <a:t>#4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05456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CAND_0055905  ·  0.8510  ·  Sr ML Engineer @ Flipkart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52927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28090"/>
                </a:solidFill>
              </a:defRPr>
            </a:pPr>
            <a:r>
              <a:t>#5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852927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CAND_0018499  ·  0.8041  ·  Sr ML Engineer @ Zomato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051560"/>
            <a:ext cx="397763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Validation Results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100 rows · ranks 1–100 unique · scores monotonic · 0 honeypots.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All 100 candidate_ids verified in official candidates.jsonl.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Byte-reproducible artifact (verify_submission_artifact.py: PASS).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Reasoning: 100% unique, Stage 4 mock 10/10 rows pass.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20440"/>
            <a:ext cx="8138160" cy="123444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1188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65A82"/>
                </a:solidFill>
              </a:defRPr>
            </a:pPr>
            <a:r>
              <a:t>~49–60s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on 100K candidates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611880"/>
            <a:ext cx="2286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28090"/>
                </a:solidFill>
              </a:defRPr>
            </a:pPr>
            <a:r>
              <a:t>CPU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148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no GPU · no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611880"/>
            <a:ext cx="2286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65A82"/>
                </a:solidFill>
              </a:defRPr>
            </a:pPr>
            <a:r>
              <a:t>16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1148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RAM limit 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</a:defRPr>
            </a:pPr>
            <a:r>
              <a:t>Well under 5-minute wall-clock limit · embeddings bundle ~68MB fp16 · Docker reproduction supported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Chosen for reproducibility, scale, and spec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Submission Ranker (Graded)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Python 3.11 · NumPy · PyYAML — minimal deps, no torch at rank time.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all-MiniLM-L6-v2 bi-encoder — precomputed, committed as embeddings.fp16.npz.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TF-IDF + lexical matchers for JD overlap and skill phrase detection.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Docker: docker-compose.ranker.yml for Stage 3 sandbox reproduction.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pytest: challenge/test_ranker.py (31 tests passing).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AI dev tools: Cursor + Grok (architecture/review only — no candidate data to LLMs).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051560"/>
            <a:ext cx="39776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65A82"/>
                </a:solidFill>
              </a:defRPr>
            </a:pPr>
            <a:r>
              <a:t>Demo Platform (Optional)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Next.js 14 + Tailwind — recruiter dashboard, analytics, candidate actions.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FastAPI + LangGraph — 7-agent pipeline for interactive ranking explanations.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PostgreSQL / SQLite — workspace data; top-100 import from submission.csv.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HuggingFace Spaces — sandbox for sample ranking (≤100 candidates).</a:t>
            </a:r>
          </a:p>
          <a:p>
            <a:pPr>
              <a:spcAft>
                <a:spcPts val="600"/>
              </a:spcAft>
              <a:defRPr sz="1100">
                <a:solidFill>
                  <a:srgbClr val="212121"/>
                </a:solidFill>
              </a:defRPr>
            </a:pPr>
            <a:r>
              <a:t>Vercel + Render — live product demo at recruitgpt-x.vercel.app.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Submission 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ADCFC"/>
                </a:solidFill>
              </a:defRPr>
            </a:pPr>
            <a:r>
              <a:t>Everything judges need to reproduce and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8138160" cy="5669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52144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65A82"/>
                </a:solidFill>
              </a:defRPr>
            </a:pPr>
            <a:r>
              <a:t>GitHub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152144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028090"/>
                </a:solidFill>
              </a:defRPr>
            </a:pPr>
            <a:r>
              <a:t>https://github.com/rahulx2001/recruitgpt-x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7589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A5A5A"/>
                </a:solidFill>
              </a:defRPr>
            </a:pPr>
            <a:r>
              <a:t>Full source + README + reproduce 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8138160" cy="5669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73936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65A82"/>
                </a:solidFill>
              </a:defRPr>
            </a:pPr>
            <a:r>
              <a:t>Ranked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773936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028090"/>
                </a:solidFill>
              </a:defRPr>
            </a:pPr>
            <a:r>
              <a:t>submission.csv (top-100)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93391"/>
            <a:ext cx="7589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A5A5A"/>
                </a:solidFill>
              </a:defRPr>
            </a:pPr>
            <a:r>
              <a:t>candidate_id, rank, score, reasoning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40864"/>
            <a:ext cx="8138160" cy="5669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95728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65A82"/>
                </a:solidFill>
              </a:defRPr>
            </a:pPr>
            <a:r>
              <a:t>HF Sandbox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395728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028090"/>
                </a:solidFill>
              </a:defRPr>
            </a:pPr>
            <a:r>
              <a:t>huggingface.co/spaces/rahulsinghx2001/recruitgpt-ranker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15184"/>
            <a:ext cx="7589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A5A5A"/>
                </a:solidFill>
              </a:defRPr>
            </a:pPr>
            <a:r>
              <a:t>Sample ranking on ≤100 candidates, CPU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62656"/>
            <a:ext cx="8138160" cy="566928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175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65A82"/>
                </a:solidFill>
              </a:defRPr>
            </a:pPr>
            <a:r>
              <a:t>Live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017520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028090"/>
                </a:solidFill>
              </a:defRPr>
            </a:pPr>
            <a:r>
              <a:t>recruitgpt-x.vercel.app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236976"/>
            <a:ext cx="7589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A5A5A"/>
                </a:solidFill>
              </a:defRPr>
            </a:pPr>
            <a:r>
              <a:t>Recruiter UI — dashboard, analytics, AI 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84448"/>
            <a:ext cx="8138160" cy="566928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639312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65A82"/>
                </a:solidFill>
              </a:defRPr>
            </a:pPr>
            <a:r>
              <a:t>Reproduce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639312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028090"/>
                </a:solidFill>
              </a:defRPr>
            </a:pPr>
            <a:r>
              <a:t>./scripts/reproduce_ranking.sh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858768"/>
            <a:ext cx="7589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A5A5A"/>
                </a:solidFill>
              </a:defRPr>
            </a:pPr>
            <a:r>
              <a:t>Single command → byte-verified submission.csv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06240"/>
            <a:ext cx="8138160" cy="566928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61104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65A82"/>
                </a:solidFill>
              </a:defRPr>
            </a:pPr>
            <a:r>
              <a:t>Metadata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261104"/>
            <a:ext cx="4114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028090"/>
                </a:solidFill>
              </a:defRPr>
            </a:pPr>
            <a:r>
              <a:t>submission_metadata.yaml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480560"/>
            <a:ext cx="7589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A5A5A"/>
                </a:solidFill>
              </a:defRPr>
            </a:pPr>
            <a:r>
              <a:t>Team Schadn · Rahul Kumar Singh · compute + AI declaration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70916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A5A5A"/>
                </a:solidFill>
              </a:defRPr>
            </a:pPr>
            <a:r>
              <a:t>Contact: rahulsinghx2001@gmail.com · +91-8539816642 · Team Schadn · Rahul Kumar Singh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7863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CADCFC"/>
                </a:solidFill>
              </a:defRPr>
            </a:pPr>
            <a:r>
              <a:t>Schadn · Rahul Kumar Singh</a:t>
            </a:r>
            <a:br/>
            <a:r>
              <a:t>RecruitGPT X — Ranking candidates like a great recruiter, not a keyword filter.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0">
                <a:solidFill>
                  <a:srgbClr val="02C39A"/>
                </a:solidFill>
              </a:defRPr>
            </a:pPr>
            <a:r>
              <a:t>github.com/rahulx2001/recruitgpt-x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